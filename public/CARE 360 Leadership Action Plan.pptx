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3EA"/>
        </a:solidFill>
      </p:bgPr>
    </p:bg>
    <p:spTree>
      <p:nvGrpSpPr>
        <p:cNvPr id="1" name=""/>
        <p:cNvGrpSpPr/>
        <p:nvPr/>
      </p:nvGrpSpPr>
      <p:grpSpPr>
        <a:xfrm>
          <a:off x="0" y="0"/>
          <a:ext cx="0" cy="0"/>
          <a:chOff x="0" y="0"/>
          <a:chExt cx="0" cy="0"/>
        </a:xfrm>
      </p:grpSpPr>
      <p:pic>
        <p:nvPicPr>
          <p:cNvPr id="2" name="Image 0" descr="lockup_ink.png">    </p:cNvPr>
          <p:cNvPicPr>
            <a:picLocks noChangeAspect="1"/>
          </p:cNvPicPr>
          <p:nvPr/>
        </p:nvPicPr>
        <p:blipFill>
          <a:blip r:embed="rId1"/>
          <a:stretch>
            <a:fillRect/>
          </a:stretch>
        </p:blipFill>
        <p:spPr>
          <a:xfrm>
            <a:off x="4951476" y="1325880"/>
            <a:ext cx="2286000" cy="740664"/>
          </a:xfrm>
          <a:prstGeom prst="rect">
            <a:avLst/>
          </a:prstGeom>
        </p:spPr>
      </p:pic>
      <p:sp>
        <p:nvSpPr>
          <p:cNvPr id="3" name="Text 0"/>
          <p:cNvSpPr txBox="1"/>
          <p:nvPr/>
        </p:nvSpPr>
        <p:spPr>
          <a:xfrm>
            <a:off x="0" y="2514600"/>
            <a:ext cx="12188952" cy="274320"/>
          </a:xfrm>
          <a:prstGeom prst="rect">
            <a:avLst/>
          </a:prstGeom>
          <a:noFill/>
          <a:ln/>
        </p:spPr>
        <p:txBody>
          <a:bodyPr wrap="square" lIns="0" tIns="0" rIns="0" bIns="0" rtlCol="0" anchor="ctr"/>
          <a:lstStyle/>
          <a:p>
            <a:pPr algn="ctr" indent="0" marL="0">
              <a:buNone/>
            </a:pPr>
            <a:r>
              <a:rPr lang="en-US" sz="1100" b="1" spc="400" kern="0" dirty="0">
                <a:solidFill>
                  <a:srgbClr val="C08A3E"/>
                </a:solidFill>
                <a:latin typeface="Noto Sans" pitchFamily="34" charset="0"/>
                <a:ea typeface="Noto Sans" pitchFamily="34" charset="-122"/>
                <a:cs typeface="Noto Sans" pitchFamily="34" charset="-120"/>
              </a:rPr>
              <a:t>CARE 360</a:t>
            </a:r>
            <a:endParaRPr lang="en-US" sz="1100" dirty="0"/>
          </a:p>
        </p:txBody>
      </p:sp>
      <p:sp>
        <p:nvSpPr>
          <p:cNvPr id="4" name="Text 1"/>
          <p:cNvSpPr txBox="1"/>
          <p:nvPr/>
        </p:nvSpPr>
        <p:spPr>
          <a:xfrm>
            <a:off x="0" y="2880360"/>
            <a:ext cx="12188952" cy="777240"/>
          </a:xfrm>
          <a:prstGeom prst="rect">
            <a:avLst/>
          </a:prstGeom>
          <a:noFill/>
          <a:ln/>
        </p:spPr>
        <p:txBody>
          <a:bodyPr wrap="square" lIns="0" tIns="0" rIns="0" bIns="0" rtlCol="0" anchor="ctr"/>
          <a:lstStyle/>
          <a:p>
            <a:pPr algn="ctr" indent="0" marL="0">
              <a:buNone/>
            </a:pPr>
            <a:r>
              <a:rPr lang="en-US" sz="4600" b="1" dirty="0">
                <a:solidFill>
                  <a:srgbClr val="30383B"/>
                </a:solidFill>
                <a:latin typeface="EB Garamond" pitchFamily="34" charset="0"/>
                <a:ea typeface="EB Garamond" pitchFamily="34" charset="-122"/>
                <a:cs typeface="EB Garamond" pitchFamily="34" charset="-120"/>
              </a:rPr>
              <a:t>Leadership Action Plan</a:t>
            </a:r>
            <a:endParaRPr lang="en-US" sz="4600" dirty="0"/>
          </a:p>
        </p:txBody>
      </p:sp>
      <p:sp>
        <p:nvSpPr>
          <p:cNvPr id="5" name="Text 2"/>
          <p:cNvSpPr txBox="1"/>
          <p:nvPr/>
        </p:nvSpPr>
        <p:spPr>
          <a:xfrm>
            <a:off x="2665476" y="3794760"/>
            <a:ext cx="6858000" cy="365760"/>
          </a:xfrm>
          <a:prstGeom prst="rect">
            <a:avLst/>
          </a:prstGeom>
          <a:noFill/>
          <a:ln/>
        </p:spPr>
        <p:txBody>
          <a:bodyPr wrap="square" lIns="0" tIns="0" rIns="0" bIns="0" rtlCol="0" anchor="ctr"/>
          <a:lstStyle/>
          <a:p>
            <a:pPr algn="ctr" indent="0" marL="0">
              <a:buNone/>
            </a:pPr>
            <a:r>
              <a:rPr lang="en-US" sz="1300" dirty="0">
                <a:solidFill>
                  <a:srgbClr val="6B7275"/>
                </a:solidFill>
                <a:latin typeface="Noto Sans" pitchFamily="34" charset="0"/>
                <a:ea typeface="Noto Sans" pitchFamily="34" charset="-122"/>
                <a:cs typeface="Noto Sans" pitchFamily="34" charset="-120"/>
              </a:rPr>
              <a:t>A working document for turning feedback into change over the next six months.</a:t>
            </a:r>
            <a:endParaRPr lang="en-US" sz="1300" dirty="0"/>
          </a:p>
        </p:txBody>
      </p:sp>
      <p:sp>
        <p:nvSpPr>
          <p:cNvPr id="6" name="Shape 3"/>
          <p:cNvSpPr/>
          <p:nvPr/>
        </p:nvSpPr>
        <p:spPr>
          <a:xfrm>
            <a:off x="5545836" y="4389120"/>
            <a:ext cx="1097280" cy="0"/>
          </a:xfrm>
          <a:prstGeom prst="line">
            <a:avLst/>
          </a:prstGeom>
          <a:noFill/>
          <a:ln w="15875">
            <a:solidFill>
              <a:srgbClr val="A9633D"/>
            </a:solidFill>
            <a:prstDash val="solid"/>
          </a:ln>
        </p:spPr>
      </p:sp>
      <p:sp>
        <p:nvSpPr>
          <p:cNvPr id="7" name="Text 4"/>
          <p:cNvSpPr txBox="1"/>
          <p:nvPr/>
        </p:nvSpPr>
        <p:spPr>
          <a:xfrm>
            <a:off x="2834640" y="4892040"/>
            <a:ext cx="2377440" cy="201168"/>
          </a:xfrm>
          <a:prstGeom prst="rect">
            <a:avLst/>
          </a:prstGeom>
          <a:noFill/>
          <a:ln/>
        </p:spPr>
        <p:txBody>
          <a:bodyPr wrap="square" lIns="0" tIns="0" rIns="0" bIns="0" rtlCol="0" anchor="ctr"/>
          <a:lstStyle/>
          <a:p>
            <a:pPr indent="0" marL="0">
              <a:buNone/>
            </a:pPr>
            <a:r>
              <a:rPr lang="en-US" sz="900" b="1" spc="120" kern="0" dirty="0">
                <a:solidFill>
                  <a:srgbClr val="6B7275"/>
                </a:solidFill>
                <a:latin typeface="Noto Sans" pitchFamily="34" charset="0"/>
                <a:ea typeface="Noto Sans" pitchFamily="34" charset="-122"/>
                <a:cs typeface="Noto Sans" pitchFamily="34" charset="-120"/>
              </a:rPr>
              <a:t>LEADER</a:t>
            </a:r>
            <a:endParaRPr lang="en-US" sz="900" dirty="0"/>
          </a:p>
        </p:txBody>
      </p:sp>
      <p:sp>
        <p:nvSpPr>
          <p:cNvPr id="8" name="Shape 5"/>
          <p:cNvSpPr/>
          <p:nvPr/>
        </p:nvSpPr>
        <p:spPr>
          <a:xfrm>
            <a:off x="2834640" y="5440680"/>
            <a:ext cx="2377440" cy="0"/>
          </a:xfrm>
          <a:prstGeom prst="line">
            <a:avLst/>
          </a:prstGeom>
          <a:noFill/>
          <a:ln w="12700">
            <a:solidFill>
              <a:srgbClr val="D9CBB2"/>
            </a:solidFill>
            <a:prstDash val="solid"/>
          </a:ln>
        </p:spPr>
      </p:sp>
      <p:sp>
        <p:nvSpPr>
          <p:cNvPr id="9" name="Text 6"/>
          <p:cNvSpPr txBox="1"/>
          <p:nvPr/>
        </p:nvSpPr>
        <p:spPr>
          <a:xfrm>
            <a:off x="6949440" y="4892040"/>
            <a:ext cx="2377440" cy="201168"/>
          </a:xfrm>
          <a:prstGeom prst="rect">
            <a:avLst/>
          </a:prstGeom>
          <a:noFill/>
          <a:ln/>
        </p:spPr>
        <p:txBody>
          <a:bodyPr wrap="square" lIns="0" tIns="0" rIns="0" bIns="0" rtlCol="0" anchor="ctr"/>
          <a:lstStyle/>
          <a:p>
            <a:pPr indent="0" marL="0">
              <a:buNone/>
            </a:pPr>
            <a:r>
              <a:rPr lang="en-US" sz="900" b="1" spc="120" kern="0" dirty="0">
                <a:solidFill>
                  <a:srgbClr val="6B7275"/>
                </a:solidFill>
                <a:latin typeface="Noto Sans" pitchFamily="34" charset="0"/>
                <a:ea typeface="Noto Sans" pitchFamily="34" charset="-122"/>
                <a:cs typeface="Noto Sans" pitchFamily="34" charset="-120"/>
              </a:rPr>
              <a:t>DATE</a:t>
            </a:r>
            <a:endParaRPr lang="en-US" sz="900" dirty="0"/>
          </a:p>
        </p:txBody>
      </p:sp>
      <p:sp>
        <p:nvSpPr>
          <p:cNvPr id="10" name="Shape 7"/>
          <p:cNvSpPr/>
          <p:nvPr/>
        </p:nvSpPr>
        <p:spPr>
          <a:xfrm>
            <a:off x="6949440" y="5440680"/>
            <a:ext cx="2377440" cy="0"/>
          </a:xfrm>
          <a:prstGeom prst="line">
            <a:avLst/>
          </a:prstGeom>
          <a:noFill/>
          <a:ln w="12700">
            <a:solidFill>
              <a:srgbClr val="D9CBB2"/>
            </a:solidFill>
            <a:prstDash val="solid"/>
          </a:ln>
        </p:spPr>
      </p:sp>
      <p:sp>
        <p:nvSpPr>
          <p:cNvPr id="11" name="Text 8"/>
          <p:cNvSpPr txBox="1"/>
          <p:nvPr/>
        </p:nvSpPr>
        <p:spPr>
          <a:xfrm>
            <a:off x="0" y="6172200"/>
            <a:ext cx="12188952" cy="228600"/>
          </a:xfrm>
          <a:prstGeom prst="rect">
            <a:avLst/>
          </a:prstGeom>
          <a:noFill/>
          <a:ln/>
        </p:spPr>
        <p:txBody>
          <a:bodyPr wrap="square" lIns="0" tIns="0" rIns="0" bIns="0" rtlCol="0" anchor="ctr"/>
          <a:lstStyle/>
          <a:p>
            <a:pPr algn="ctr" indent="0" marL="0">
              <a:buNone/>
            </a:pPr>
            <a:r>
              <a:rPr lang="en-US" sz="900" spc="150" kern="0" dirty="0">
                <a:solidFill>
                  <a:srgbClr val="D9CBB2"/>
                </a:solidFill>
                <a:latin typeface="Noto Sans" pitchFamily="34" charset="0"/>
                <a:ea typeface="Noto Sans" pitchFamily="34" charset="-122"/>
                <a:cs typeface="Noto Sans" pitchFamily="34" charset="-120"/>
              </a:rPr>
              <a:t>Thoughtful  ·  Innovative  ·  Human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685800"/>
            <a:ext cx="7315200" cy="228600"/>
          </a:xfrm>
          <a:prstGeom prst="rect">
            <a:avLst/>
          </a:prstGeom>
          <a:noFill/>
          <a:ln/>
        </p:spPr>
        <p:txBody>
          <a:bodyPr wrap="square" lIns="0" tIns="0" rIns="0" bIns="0" rtlCol="0" anchor="ctr"/>
          <a:lstStyle/>
          <a:p>
            <a:pPr indent="0" marL="0">
              <a:buNone/>
            </a:pPr>
            <a:r>
              <a:rPr lang="en-US" sz="1000" b="1" spc="200" kern="0" dirty="0">
                <a:solidFill>
                  <a:srgbClr val="A9633D"/>
                </a:solidFill>
                <a:latin typeface="Noto Sans" pitchFamily="34" charset="0"/>
                <a:ea typeface="Noto Sans" pitchFamily="34" charset="-122"/>
                <a:cs typeface="Noto Sans" pitchFamily="34" charset="-120"/>
              </a:rPr>
              <a:t>BEFORE YOU BEGIN</a:t>
            </a:r>
            <a:endParaRPr lang="en-US" sz="1000" dirty="0"/>
          </a:p>
        </p:txBody>
      </p:sp>
      <p:sp>
        <p:nvSpPr>
          <p:cNvPr id="3" name="Text 1"/>
          <p:cNvSpPr txBox="1"/>
          <p:nvPr/>
        </p:nvSpPr>
        <p:spPr>
          <a:xfrm>
            <a:off x="777240" y="960120"/>
            <a:ext cx="10058400" cy="548640"/>
          </a:xfrm>
          <a:prstGeom prst="rect">
            <a:avLst/>
          </a:prstGeom>
          <a:noFill/>
          <a:ln/>
        </p:spPr>
        <p:txBody>
          <a:bodyPr wrap="square" lIns="0" tIns="0" rIns="0" bIns="0" rtlCol="0" anchor="ctr"/>
          <a:lstStyle/>
          <a:p>
            <a:pPr indent="0" marL="0">
              <a:buNone/>
            </a:pPr>
            <a:r>
              <a:rPr lang="en-US" sz="3400" b="1" dirty="0">
                <a:solidFill>
                  <a:srgbClr val="30383B"/>
                </a:solidFill>
                <a:latin typeface="EB Garamond" pitchFamily="34" charset="0"/>
                <a:ea typeface="EB Garamond" pitchFamily="34" charset="-122"/>
                <a:cs typeface="EB Garamond" pitchFamily="34" charset="-120"/>
              </a:rPr>
              <a:t>How to use this plan</a:t>
            </a:r>
            <a:endParaRPr lang="en-US" sz="3400" dirty="0"/>
          </a:p>
        </p:txBody>
      </p:sp>
      <p:sp>
        <p:nvSpPr>
          <p:cNvPr id="4" name="Text 2"/>
          <p:cNvSpPr txBox="1"/>
          <p:nvPr/>
        </p:nvSpPr>
        <p:spPr>
          <a:xfrm>
            <a:off x="777240" y="1691640"/>
            <a:ext cx="10241280" cy="685800"/>
          </a:xfrm>
          <a:prstGeom prst="rect">
            <a:avLst/>
          </a:prstGeom>
          <a:noFill/>
          <a:ln/>
        </p:spPr>
        <p:txBody>
          <a:bodyPr wrap="square" lIns="0" tIns="0" rIns="0" bIns="0" rtlCol="0" anchor="ctr"/>
          <a:lstStyle/>
          <a:p>
            <a:pPr indent="0" marL="0">
              <a:lnSpc>
                <a:spcPts val="2200"/>
              </a:lnSpc>
              <a:buNone/>
            </a:pPr>
            <a:r>
              <a:rPr lang="en-US" sz="1350" dirty="0">
                <a:solidFill>
                  <a:srgbClr val="4A5154"/>
                </a:solidFill>
                <a:latin typeface="Noto Sans" pitchFamily="34" charset="0"/>
                <a:ea typeface="Noto Sans" pitchFamily="34" charset="-122"/>
                <a:cs typeface="Noto Sans" pitchFamily="34" charset="-120"/>
              </a:rPr>
              <a:t>Your CARE 360 report tells you how your leadership is experienced. This plan is where you decide what to do about it. Work through it after your debrief conversation, while the feedback is still fresh.</a:t>
            </a:r>
            <a:endParaRPr lang="en-US" sz="1350" dirty="0"/>
          </a:p>
        </p:txBody>
      </p:sp>
      <p:sp>
        <p:nvSpPr>
          <p:cNvPr id="5" name="Shape 3"/>
          <p:cNvSpPr/>
          <p:nvPr/>
        </p:nvSpPr>
        <p:spPr>
          <a:xfrm>
            <a:off x="777240" y="2697480"/>
            <a:ext cx="384048" cy="384048"/>
          </a:xfrm>
          <a:prstGeom prst="ellipse">
            <a:avLst/>
          </a:prstGeom>
          <a:solidFill>
            <a:srgbClr val="A9633D"/>
          </a:solidFill>
          <a:ln w="12700">
            <a:solidFill>
              <a:srgbClr val="A9633D"/>
            </a:solidFill>
            <a:prstDash val="solid"/>
          </a:ln>
        </p:spPr>
      </p:sp>
      <p:sp>
        <p:nvSpPr>
          <p:cNvPr id="6" name="Text 4"/>
          <p:cNvSpPr txBox="1"/>
          <p:nvPr/>
        </p:nvSpPr>
        <p:spPr>
          <a:xfrm>
            <a:off x="777240" y="2752344"/>
            <a:ext cx="38404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pitchFamily="34" charset="0"/>
                <a:ea typeface="Noto Sans" pitchFamily="34" charset="-122"/>
                <a:cs typeface="Noto Sans" pitchFamily="34" charset="-120"/>
              </a:rPr>
              <a:t>1</a:t>
            </a:r>
            <a:endParaRPr lang="en-US" sz="1200" dirty="0"/>
          </a:p>
        </p:txBody>
      </p:sp>
      <p:sp>
        <p:nvSpPr>
          <p:cNvPr id="7" name="Text 5"/>
          <p:cNvSpPr txBox="1"/>
          <p:nvPr/>
        </p:nvSpPr>
        <p:spPr>
          <a:xfrm>
            <a:off x="1417320" y="2679192"/>
            <a:ext cx="2743200" cy="274320"/>
          </a:xfrm>
          <a:prstGeom prst="rect">
            <a:avLst/>
          </a:prstGeom>
          <a:noFill/>
          <a:ln/>
        </p:spPr>
        <p:txBody>
          <a:bodyPr wrap="square" lIns="0" tIns="0" rIns="0" bIns="0" rtlCol="0" anchor="ctr"/>
          <a:lstStyle/>
          <a:p>
            <a:pPr indent="0" marL="0">
              <a:buNone/>
            </a:pPr>
            <a:r>
              <a:rPr lang="en-US" sz="1300" b="1" dirty="0">
                <a:solidFill>
                  <a:srgbClr val="30383B"/>
                </a:solidFill>
                <a:latin typeface="Noto Sans" pitchFamily="34" charset="0"/>
                <a:ea typeface="Noto Sans" pitchFamily="34" charset="-122"/>
                <a:cs typeface="Noto Sans" pitchFamily="34" charset="-120"/>
              </a:rPr>
              <a:t>Reflect first</a:t>
            </a:r>
            <a:endParaRPr lang="en-US" sz="1300" dirty="0"/>
          </a:p>
        </p:txBody>
      </p:sp>
      <p:sp>
        <p:nvSpPr>
          <p:cNvPr id="8" name="Text 6"/>
          <p:cNvSpPr txBox="1"/>
          <p:nvPr/>
        </p:nvSpPr>
        <p:spPr>
          <a:xfrm>
            <a:off x="4251960" y="2679192"/>
            <a:ext cx="6766560" cy="548640"/>
          </a:xfrm>
          <a:prstGeom prst="rect">
            <a:avLst/>
          </a:prstGeom>
          <a:noFill/>
          <a:ln/>
        </p:spPr>
        <p:txBody>
          <a:bodyPr wrap="square" lIns="0" tIns="0" rIns="0" bIns="0" rtlCol="0" anchor="ctr"/>
          <a:lstStyle/>
          <a:p>
            <a:pPr indent="0" marL="0">
              <a:lnSpc>
                <a:spcPts val="1800"/>
              </a:lnSpc>
              <a:buNone/>
            </a:pPr>
            <a:r>
              <a:rPr lang="en-US" sz="1200" dirty="0">
                <a:solidFill>
                  <a:srgbClr val="5A6164"/>
                </a:solidFill>
                <a:latin typeface="Noto Sans" pitchFamily="34" charset="0"/>
                <a:ea typeface="Noto Sans" pitchFamily="34" charset="-122"/>
                <a:cs typeface="Noto Sans" pitchFamily="34" charset="-120"/>
              </a:rPr>
              <a:t>Sit with the report before choosing anything. The feedback that stings is usually the feedback worth acting on.</a:t>
            </a:r>
            <a:endParaRPr lang="en-US" sz="1200" dirty="0"/>
          </a:p>
        </p:txBody>
      </p:sp>
      <p:sp>
        <p:nvSpPr>
          <p:cNvPr id="9" name="Shape 7"/>
          <p:cNvSpPr/>
          <p:nvPr/>
        </p:nvSpPr>
        <p:spPr>
          <a:xfrm>
            <a:off x="777240" y="3566160"/>
            <a:ext cx="384048" cy="384048"/>
          </a:xfrm>
          <a:prstGeom prst="ellipse">
            <a:avLst/>
          </a:prstGeom>
          <a:solidFill>
            <a:srgbClr val="A9633D"/>
          </a:solidFill>
          <a:ln w="12700">
            <a:solidFill>
              <a:srgbClr val="A9633D"/>
            </a:solidFill>
            <a:prstDash val="solid"/>
          </a:ln>
        </p:spPr>
      </p:sp>
      <p:sp>
        <p:nvSpPr>
          <p:cNvPr id="10" name="Text 8"/>
          <p:cNvSpPr txBox="1"/>
          <p:nvPr/>
        </p:nvSpPr>
        <p:spPr>
          <a:xfrm>
            <a:off x="777240" y="3621024"/>
            <a:ext cx="38404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pitchFamily="34" charset="0"/>
                <a:ea typeface="Noto Sans" pitchFamily="34" charset="-122"/>
                <a:cs typeface="Noto Sans" pitchFamily="34" charset="-120"/>
              </a:rPr>
              <a:t>2</a:t>
            </a:r>
            <a:endParaRPr lang="en-US" sz="1200" dirty="0"/>
          </a:p>
        </p:txBody>
      </p:sp>
      <p:sp>
        <p:nvSpPr>
          <p:cNvPr id="11" name="Text 9"/>
          <p:cNvSpPr txBox="1"/>
          <p:nvPr/>
        </p:nvSpPr>
        <p:spPr>
          <a:xfrm>
            <a:off x="1417320" y="3547872"/>
            <a:ext cx="2743200" cy="274320"/>
          </a:xfrm>
          <a:prstGeom prst="rect">
            <a:avLst/>
          </a:prstGeom>
          <a:noFill/>
          <a:ln/>
        </p:spPr>
        <p:txBody>
          <a:bodyPr wrap="square" lIns="0" tIns="0" rIns="0" bIns="0" rtlCol="0" anchor="ctr"/>
          <a:lstStyle/>
          <a:p>
            <a:pPr indent="0" marL="0">
              <a:buNone/>
            </a:pPr>
            <a:r>
              <a:rPr lang="en-US" sz="1300" b="1" dirty="0">
                <a:solidFill>
                  <a:srgbClr val="30383B"/>
                </a:solidFill>
                <a:latin typeface="Noto Sans" pitchFamily="34" charset="0"/>
                <a:ea typeface="Noto Sans" pitchFamily="34" charset="-122"/>
                <a:cs typeface="Noto Sans" pitchFamily="34" charset="-120"/>
              </a:rPr>
              <a:t>Choose three</a:t>
            </a:r>
            <a:endParaRPr lang="en-US" sz="1300" dirty="0"/>
          </a:p>
        </p:txBody>
      </p:sp>
      <p:sp>
        <p:nvSpPr>
          <p:cNvPr id="12" name="Text 10"/>
          <p:cNvSpPr txBox="1"/>
          <p:nvPr/>
        </p:nvSpPr>
        <p:spPr>
          <a:xfrm>
            <a:off x="4251960" y="3547872"/>
            <a:ext cx="6766560" cy="548640"/>
          </a:xfrm>
          <a:prstGeom prst="rect">
            <a:avLst/>
          </a:prstGeom>
          <a:noFill/>
          <a:ln/>
        </p:spPr>
        <p:txBody>
          <a:bodyPr wrap="square" lIns="0" tIns="0" rIns="0" bIns="0" rtlCol="0" anchor="ctr"/>
          <a:lstStyle/>
          <a:p>
            <a:pPr indent="0" marL="0">
              <a:lnSpc>
                <a:spcPts val="1800"/>
              </a:lnSpc>
              <a:buNone/>
            </a:pPr>
            <a:r>
              <a:rPr lang="en-US" sz="1200" dirty="0">
                <a:solidFill>
                  <a:srgbClr val="5A6164"/>
                </a:solidFill>
                <a:latin typeface="Noto Sans" pitchFamily="34" charset="0"/>
                <a:ea typeface="Noto Sans" pitchFamily="34" charset="-122"/>
                <a:cs typeface="Noto Sans" pitchFamily="34" charset="-120"/>
              </a:rPr>
              <a:t>Three priorities, no more. A plan with seven priorities is a wish list, not a plan.</a:t>
            </a:r>
            <a:endParaRPr lang="en-US" sz="1200" dirty="0"/>
          </a:p>
        </p:txBody>
      </p:sp>
      <p:sp>
        <p:nvSpPr>
          <p:cNvPr id="13" name="Shape 11"/>
          <p:cNvSpPr/>
          <p:nvPr/>
        </p:nvSpPr>
        <p:spPr>
          <a:xfrm>
            <a:off x="777240" y="4434840"/>
            <a:ext cx="384048" cy="384048"/>
          </a:xfrm>
          <a:prstGeom prst="ellipse">
            <a:avLst/>
          </a:prstGeom>
          <a:solidFill>
            <a:srgbClr val="A9633D"/>
          </a:solidFill>
          <a:ln w="12700">
            <a:solidFill>
              <a:srgbClr val="A9633D"/>
            </a:solidFill>
            <a:prstDash val="solid"/>
          </a:ln>
        </p:spPr>
      </p:sp>
      <p:sp>
        <p:nvSpPr>
          <p:cNvPr id="14" name="Text 12"/>
          <p:cNvSpPr txBox="1"/>
          <p:nvPr/>
        </p:nvSpPr>
        <p:spPr>
          <a:xfrm>
            <a:off x="777240" y="4489704"/>
            <a:ext cx="38404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pitchFamily="34" charset="0"/>
                <a:ea typeface="Noto Sans" pitchFamily="34" charset="-122"/>
                <a:cs typeface="Noto Sans" pitchFamily="34" charset="-120"/>
              </a:rPr>
              <a:t>3</a:t>
            </a:r>
            <a:endParaRPr lang="en-US" sz="1200" dirty="0"/>
          </a:p>
        </p:txBody>
      </p:sp>
      <p:sp>
        <p:nvSpPr>
          <p:cNvPr id="15" name="Text 13"/>
          <p:cNvSpPr txBox="1"/>
          <p:nvPr/>
        </p:nvSpPr>
        <p:spPr>
          <a:xfrm>
            <a:off x="1417320" y="4416552"/>
            <a:ext cx="2743200" cy="274320"/>
          </a:xfrm>
          <a:prstGeom prst="rect">
            <a:avLst/>
          </a:prstGeom>
          <a:noFill/>
          <a:ln/>
        </p:spPr>
        <p:txBody>
          <a:bodyPr wrap="square" lIns="0" tIns="0" rIns="0" bIns="0" rtlCol="0" anchor="ctr"/>
          <a:lstStyle/>
          <a:p>
            <a:pPr indent="0" marL="0">
              <a:buNone/>
            </a:pPr>
            <a:r>
              <a:rPr lang="en-US" sz="1300" b="1" dirty="0">
                <a:solidFill>
                  <a:srgbClr val="30383B"/>
                </a:solidFill>
                <a:latin typeface="Noto Sans" pitchFamily="34" charset="0"/>
                <a:ea typeface="Noto Sans" pitchFamily="34" charset="-122"/>
                <a:cs typeface="Noto Sans" pitchFamily="34" charset="-120"/>
              </a:rPr>
              <a:t>Make it observable</a:t>
            </a:r>
            <a:endParaRPr lang="en-US" sz="1300" dirty="0"/>
          </a:p>
        </p:txBody>
      </p:sp>
      <p:sp>
        <p:nvSpPr>
          <p:cNvPr id="16" name="Text 14"/>
          <p:cNvSpPr txBox="1"/>
          <p:nvPr/>
        </p:nvSpPr>
        <p:spPr>
          <a:xfrm>
            <a:off x="4251960" y="4416552"/>
            <a:ext cx="6766560" cy="548640"/>
          </a:xfrm>
          <a:prstGeom prst="rect">
            <a:avLst/>
          </a:prstGeom>
          <a:noFill/>
          <a:ln/>
        </p:spPr>
        <p:txBody>
          <a:bodyPr wrap="square" lIns="0" tIns="0" rIns="0" bIns="0" rtlCol="0" anchor="ctr"/>
          <a:lstStyle/>
          <a:p>
            <a:pPr indent="0" marL="0">
              <a:lnSpc>
                <a:spcPts val="1800"/>
              </a:lnSpc>
              <a:buNone/>
            </a:pPr>
            <a:r>
              <a:rPr lang="en-US" sz="1200" dirty="0">
                <a:solidFill>
                  <a:srgbClr val="5A6164"/>
                </a:solidFill>
                <a:latin typeface="Noto Sans" pitchFamily="34" charset="0"/>
                <a:ea typeface="Noto Sans" pitchFamily="34" charset="-122"/>
                <a:cs typeface="Noto Sans" pitchFamily="34" charset="-120"/>
              </a:rPr>
              <a:t>Name what someone else would see you doing differently. Not "communicate better" but "send a written recap after every priority change."</a:t>
            </a:r>
            <a:endParaRPr lang="en-US" sz="1200" dirty="0"/>
          </a:p>
        </p:txBody>
      </p:sp>
      <p:sp>
        <p:nvSpPr>
          <p:cNvPr id="17" name="Shape 15"/>
          <p:cNvSpPr/>
          <p:nvPr/>
        </p:nvSpPr>
        <p:spPr>
          <a:xfrm>
            <a:off x="777240" y="5303520"/>
            <a:ext cx="384048" cy="384048"/>
          </a:xfrm>
          <a:prstGeom prst="ellipse">
            <a:avLst/>
          </a:prstGeom>
          <a:solidFill>
            <a:srgbClr val="A9633D"/>
          </a:solidFill>
          <a:ln w="12700">
            <a:solidFill>
              <a:srgbClr val="A9633D"/>
            </a:solidFill>
            <a:prstDash val="solid"/>
          </a:ln>
        </p:spPr>
      </p:sp>
      <p:sp>
        <p:nvSpPr>
          <p:cNvPr id="18" name="Text 16"/>
          <p:cNvSpPr txBox="1"/>
          <p:nvPr/>
        </p:nvSpPr>
        <p:spPr>
          <a:xfrm>
            <a:off x="777240" y="5358384"/>
            <a:ext cx="38404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pitchFamily="34" charset="0"/>
                <a:ea typeface="Noto Sans" pitchFamily="34" charset="-122"/>
                <a:cs typeface="Noto Sans" pitchFamily="34" charset="-120"/>
              </a:rPr>
              <a:t>4</a:t>
            </a:r>
            <a:endParaRPr lang="en-US" sz="1200" dirty="0"/>
          </a:p>
        </p:txBody>
      </p:sp>
      <p:sp>
        <p:nvSpPr>
          <p:cNvPr id="19" name="Text 17"/>
          <p:cNvSpPr txBox="1"/>
          <p:nvPr/>
        </p:nvSpPr>
        <p:spPr>
          <a:xfrm>
            <a:off x="1417320" y="5285232"/>
            <a:ext cx="2743200" cy="274320"/>
          </a:xfrm>
          <a:prstGeom prst="rect">
            <a:avLst/>
          </a:prstGeom>
          <a:noFill/>
          <a:ln/>
        </p:spPr>
        <p:txBody>
          <a:bodyPr wrap="square" lIns="0" tIns="0" rIns="0" bIns="0" rtlCol="0" anchor="ctr"/>
          <a:lstStyle/>
          <a:p>
            <a:pPr indent="0" marL="0">
              <a:buNone/>
            </a:pPr>
            <a:r>
              <a:rPr lang="en-US" sz="1300" b="1" dirty="0">
                <a:solidFill>
                  <a:srgbClr val="30383B"/>
                </a:solidFill>
                <a:latin typeface="Noto Sans" pitchFamily="34" charset="0"/>
                <a:ea typeface="Noto Sans" pitchFamily="34" charset="-122"/>
                <a:cs typeface="Noto Sans" pitchFamily="34" charset="-120"/>
              </a:rPr>
              <a:t>Share it</a:t>
            </a:r>
            <a:endParaRPr lang="en-US" sz="1300" dirty="0"/>
          </a:p>
        </p:txBody>
      </p:sp>
      <p:sp>
        <p:nvSpPr>
          <p:cNvPr id="20" name="Text 18"/>
          <p:cNvSpPr txBox="1"/>
          <p:nvPr/>
        </p:nvSpPr>
        <p:spPr>
          <a:xfrm>
            <a:off x="4251960" y="5285232"/>
            <a:ext cx="6766560" cy="548640"/>
          </a:xfrm>
          <a:prstGeom prst="rect">
            <a:avLst/>
          </a:prstGeom>
          <a:noFill/>
          <a:ln/>
        </p:spPr>
        <p:txBody>
          <a:bodyPr wrap="square" lIns="0" tIns="0" rIns="0" bIns="0" rtlCol="0" anchor="ctr"/>
          <a:lstStyle/>
          <a:p>
            <a:pPr indent="0" marL="0">
              <a:lnSpc>
                <a:spcPts val="1800"/>
              </a:lnSpc>
              <a:buNone/>
            </a:pPr>
            <a:r>
              <a:rPr lang="en-US" sz="1200" dirty="0">
                <a:solidFill>
                  <a:srgbClr val="5A6164"/>
                </a:solidFill>
                <a:latin typeface="Noto Sans" pitchFamily="34" charset="0"/>
                <a:ea typeface="Noto Sans" pitchFamily="34" charset="-122"/>
                <a:cs typeface="Noto Sans" pitchFamily="34" charset="-120"/>
              </a:rPr>
              <a:t>Give this to your manager and revisit it at the check-in dates you set. A plan nobody else has seen rarely survives a busy month.</a:t>
            </a:r>
            <a:endParaRPr lang="en-US" sz="1200" dirty="0"/>
          </a:p>
        </p:txBody>
      </p:sp>
      <p:sp>
        <p:nvSpPr>
          <p:cNvPr id="21" name="Text 19"/>
          <p:cNvSpPr txBox="1"/>
          <p:nvPr/>
        </p:nvSpPr>
        <p:spPr>
          <a:xfrm>
            <a:off x="777240" y="6355080"/>
            <a:ext cx="5486400" cy="228600"/>
          </a:xfrm>
          <a:prstGeom prst="rect">
            <a:avLst/>
          </a:prstGeom>
          <a:noFill/>
          <a:ln/>
        </p:spPr>
        <p:txBody>
          <a:bodyPr wrap="square" lIns="0" tIns="0" rIns="0" bIns="0" rtlCol="0" anchor="ctr"/>
          <a:lstStyle/>
          <a:p>
            <a:pPr indent="0" marL="0">
              <a:buNone/>
            </a:pPr>
            <a:r>
              <a:rPr lang="en-US" sz="900" dirty="0">
                <a:solidFill>
                  <a:srgbClr val="D9CBB2"/>
                </a:solidFill>
                <a:latin typeface="Noto Sans" pitchFamily="34" charset="0"/>
                <a:ea typeface="Noto Sans" pitchFamily="34" charset="-122"/>
                <a:cs typeface="Noto Sans" pitchFamily="34" charset="-120"/>
              </a:rPr>
              <a:t>CARE 360 Leadership Action Plan</a:t>
            </a:r>
            <a:endParaRPr lang="en-US" sz="900" dirty="0"/>
          </a:p>
        </p:txBody>
      </p:sp>
      <p:sp>
        <p:nvSpPr>
          <p:cNvPr id="22" name="Text 20"/>
          <p:cNvSpPr txBox="1"/>
          <p:nvPr/>
        </p:nvSpPr>
        <p:spPr>
          <a:xfrm>
            <a:off x="7754112" y="6355080"/>
            <a:ext cx="3657600" cy="228600"/>
          </a:xfrm>
          <a:prstGeom prst="rect">
            <a:avLst/>
          </a:prstGeom>
          <a:noFill/>
          <a:ln/>
        </p:spPr>
        <p:txBody>
          <a:bodyPr wrap="square" lIns="0" tIns="0" rIns="0" bIns="0" rtlCol="0" anchor="ctr"/>
          <a:lstStyle/>
          <a:p>
            <a:pPr algn="r" indent="0" marL="0">
              <a:buNone/>
            </a:pPr>
            <a:r>
              <a:rPr lang="en-US" sz="900" dirty="0">
                <a:solidFill>
                  <a:srgbClr val="D9CBB2"/>
                </a:solidFill>
                <a:latin typeface="Noto Sans" pitchFamily="34" charset="0"/>
                <a:ea typeface="Noto Sans" pitchFamily="34" charset="-122"/>
                <a:cs typeface="Noto Sans" pitchFamily="34" charset="-120"/>
              </a:rPr>
              <a:t>How to use this plan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685800"/>
            <a:ext cx="7315200" cy="228600"/>
          </a:xfrm>
          <a:prstGeom prst="rect">
            <a:avLst/>
          </a:prstGeom>
          <a:noFill/>
          <a:ln/>
        </p:spPr>
        <p:txBody>
          <a:bodyPr wrap="square" lIns="0" tIns="0" rIns="0" bIns="0" rtlCol="0" anchor="ctr"/>
          <a:lstStyle/>
          <a:p>
            <a:pPr indent="0" marL="0">
              <a:buNone/>
            </a:pPr>
            <a:r>
              <a:rPr lang="en-US" sz="1000" b="1" spc="200" kern="0" dirty="0">
                <a:solidFill>
                  <a:srgbClr val="A9633D"/>
                </a:solidFill>
                <a:latin typeface="Noto Sans" pitchFamily="34" charset="0"/>
                <a:ea typeface="Noto Sans" pitchFamily="34" charset="-122"/>
                <a:cs typeface="Noto Sans" pitchFamily="34" charset="-120"/>
              </a:rPr>
              <a:t>STEP ONE</a:t>
            </a:r>
            <a:endParaRPr lang="en-US" sz="1000" dirty="0"/>
          </a:p>
        </p:txBody>
      </p:sp>
      <p:sp>
        <p:nvSpPr>
          <p:cNvPr id="3" name="Text 1"/>
          <p:cNvSpPr txBox="1"/>
          <p:nvPr/>
        </p:nvSpPr>
        <p:spPr>
          <a:xfrm>
            <a:off x="777240" y="960120"/>
            <a:ext cx="10058400" cy="548640"/>
          </a:xfrm>
          <a:prstGeom prst="rect">
            <a:avLst/>
          </a:prstGeom>
          <a:noFill/>
          <a:ln/>
        </p:spPr>
        <p:txBody>
          <a:bodyPr wrap="square" lIns="0" tIns="0" rIns="0" bIns="0" rtlCol="0" anchor="ctr"/>
          <a:lstStyle/>
          <a:p>
            <a:pPr indent="0" marL="0">
              <a:buNone/>
            </a:pPr>
            <a:r>
              <a:rPr lang="en-US" sz="3400" b="1" dirty="0">
                <a:solidFill>
                  <a:srgbClr val="30383B"/>
                </a:solidFill>
                <a:latin typeface="EB Garamond" pitchFamily="34" charset="0"/>
                <a:ea typeface="EB Garamond" pitchFamily="34" charset="-122"/>
                <a:cs typeface="EB Garamond" pitchFamily="34" charset="-120"/>
              </a:rPr>
              <a:t>What the feedback told you</a:t>
            </a:r>
            <a:endParaRPr lang="en-US" sz="3400" dirty="0"/>
          </a:p>
        </p:txBody>
      </p:sp>
      <p:sp>
        <p:nvSpPr>
          <p:cNvPr id="4" name="Text 2"/>
          <p:cNvSpPr txBox="1"/>
          <p:nvPr/>
        </p:nvSpPr>
        <p:spPr>
          <a:xfrm>
            <a:off x="777240" y="1664208"/>
            <a:ext cx="10241280" cy="274320"/>
          </a:xfrm>
          <a:prstGeom prst="rect">
            <a:avLst/>
          </a:prstGeom>
          <a:noFill/>
          <a:ln/>
        </p:spPr>
        <p:txBody>
          <a:bodyPr wrap="square" lIns="0" tIns="0" rIns="0" bIns="0" rtlCol="0" anchor="ctr"/>
          <a:lstStyle/>
          <a:p>
            <a:pPr indent="0" marL="0">
              <a:buNone/>
            </a:pPr>
            <a:r>
              <a:rPr lang="en-US" sz="1250" dirty="0">
                <a:solidFill>
                  <a:srgbClr val="6B7275"/>
                </a:solidFill>
                <a:latin typeface="Noto Sans" pitchFamily="34" charset="0"/>
                <a:ea typeface="Noto Sans" pitchFamily="34" charset="-122"/>
                <a:cs typeface="Noto Sans" pitchFamily="34" charset="-120"/>
              </a:rPr>
              <a:t>Answer these in your own words before choosing priorities. There are no right answers.</a:t>
            </a:r>
            <a:endParaRPr lang="en-US" sz="1250" dirty="0"/>
          </a:p>
        </p:txBody>
      </p:sp>
      <p:sp>
        <p:nvSpPr>
          <p:cNvPr id="5" name="Shape 3"/>
          <p:cNvSpPr/>
          <p:nvPr/>
        </p:nvSpPr>
        <p:spPr>
          <a:xfrm>
            <a:off x="777240" y="2240280"/>
            <a:ext cx="10607040" cy="932688"/>
          </a:xfrm>
          <a:prstGeom prst="roundRect">
            <a:avLst>
              <a:gd name="adj" fmla="val 3922"/>
            </a:avLst>
          </a:prstGeom>
          <a:solidFill>
            <a:srgbClr val="F7F3EA"/>
          </a:solidFill>
          <a:ln w="12700">
            <a:solidFill>
              <a:srgbClr val="F7F3EA"/>
            </a:solidFill>
            <a:prstDash val="solid"/>
          </a:ln>
        </p:spPr>
      </p:sp>
      <p:sp>
        <p:nvSpPr>
          <p:cNvPr id="6" name="Text 4"/>
          <p:cNvSpPr txBox="1"/>
          <p:nvPr/>
        </p:nvSpPr>
        <p:spPr>
          <a:xfrm>
            <a:off x="1033272" y="2386584"/>
            <a:ext cx="10058400" cy="256032"/>
          </a:xfrm>
          <a:prstGeom prst="rect">
            <a:avLst/>
          </a:prstGeom>
          <a:noFill/>
          <a:ln/>
        </p:spPr>
        <p:txBody>
          <a:bodyPr wrap="square" lIns="0" tIns="0" rIns="0" bIns="0" rtlCol="0" anchor="ctr"/>
          <a:lstStyle/>
          <a:p>
            <a:pPr indent="0" marL="0">
              <a:buNone/>
            </a:pPr>
            <a:r>
              <a:rPr lang="en-US" sz="1200" b="1" dirty="0">
                <a:solidFill>
                  <a:srgbClr val="30383B"/>
                </a:solidFill>
                <a:latin typeface="Noto Sans" pitchFamily="34" charset="0"/>
                <a:ea typeface="Noto Sans" pitchFamily="34" charset="-122"/>
                <a:cs typeface="Noto Sans" pitchFamily="34" charset="-120"/>
              </a:rPr>
              <a:t>The theme that showed up most consistently across rater groups was...</a:t>
            </a:r>
            <a:endParaRPr lang="en-US" sz="1200" dirty="0"/>
          </a:p>
        </p:txBody>
      </p:sp>
      <p:sp>
        <p:nvSpPr>
          <p:cNvPr id="7" name="Shape 5"/>
          <p:cNvSpPr/>
          <p:nvPr/>
        </p:nvSpPr>
        <p:spPr>
          <a:xfrm>
            <a:off x="1033272" y="2935224"/>
            <a:ext cx="10104120" cy="0"/>
          </a:xfrm>
          <a:prstGeom prst="line">
            <a:avLst/>
          </a:prstGeom>
          <a:noFill/>
          <a:ln w="9525">
            <a:solidFill>
              <a:srgbClr val="D9CBB2"/>
            </a:solidFill>
            <a:prstDash val="solid"/>
          </a:ln>
        </p:spPr>
      </p:sp>
      <p:sp>
        <p:nvSpPr>
          <p:cNvPr id="8" name="Shape 6"/>
          <p:cNvSpPr/>
          <p:nvPr/>
        </p:nvSpPr>
        <p:spPr>
          <a:xfrm>
            <a:off x="777240" y="3319272"/>
            <a:ext cx="10607040" cy="932688"/>
          </a:xfrm>
          <a:prstGeom prst="roundRect">
            <a:avLst>
              <a:gd name="adj" fmla="val 3922"/>
            </a:avLst>
          </a:prstGeom>
          <a:solidFill>
            <a:srgbClr val="F7F3EA"/>
          </a:solidFill>
          <a:ln w="12700">
            <a:solidFill>
              <a:srgbClr val="F7F3EA"/>
            </a:solidFill>
            <a:prstDash val="solid"/>
          </a:ln>
        </p:spPr>
      </p:sp>
      <p:sp>
        <p:nvSpPr>
          <p:cNvPr id="9" name="Text 7"/>
          <p:cNvSpPr txBox="1"/>
          <p:nvPr/>
        </p:nvSpPr>
        <p:spPr>
          <a:xfrm>
            <a:off x="1033272" y="3465576"/>
            <a:ext cx="10058400" cy="256032"/>
          </a:xfrm>
          <a:prstGeom prst="rect">
            <a:avLst/>
          </a:prstGeom>
          <a:noFill/>
          <a:ln/>
        </p:spPr>
        <p:txBody>
          <a:bodyPr wrap="square" lIns="0" tIns="0" rIns="0" bIns="0" rtlCol="0" anchor="ctr"/>
          <a:lstStyle/>
          <a:p>
            <a:pPr indent="0" marL="0">
              <a:buNone/>
            </a:pPr>
            <a:r>
              <a:rPr lang="en-US" sz="1200" b="1" dirty="0">
                <a:solidFill>
                  <a:srgbClr val="30383B"/>
                </a:solidFill>
                <a:latin typeface="Noto Sans" pitchFamily="34" charset="0"/>
                <a:ea typeface="Noto Sans" pitchFamily="34" charset="-122"/>
                <a:cs typeface="Noto Sans" pitchFamily="34" charset="-120"/>
              </a:rPr>
              <a:t>The largest gap between how I see myself and how others see me is...</a:t>
            </a:r>
            <a:endParaRPr lang="en-US" sz="1200" dirty="0"/>
          </a:p>
        </p:txBody>
      </p:sp>
      <p:sp>
        <p:nvSpPr>
          <p:cNvPr id="10" name="Shape 8"/>
          <p:cNvSpPr/>
          <p:nvPr/>
        </p:nvSpPr>
        <p:spPr>
          <a:xfrm>
            <a:off x="1033272" y="4014216"/>
            <a:ext cx="10104120" cy="0"/>
          </a:xfrm>
          <a:prstGeom prst="line">
            <a:avLst/>
          </a:prstGeom>
          <a:noFill/>
          <a:ln w="9525">
            <a:solidFill>
              <a:srgbClr val="D9CBB2"/>
            </a:solidFill>
            <a:prstDash val="solid"/>
          </a:ln>
        </p:spPr>
      </p:sp>
      <p:sp>
        <p:nvSpPr>
          <p:cNvPr id="11" name="Shape 9"/>
          <p:cNvSpPr/>
          <p:nvPr/>
        </p:nvSpPr>
        <p:spPr>
          <a:xfrm>
            <a:off x="777240" y="4398264"/>
            <a:ext cx="10607040" cy="932688"/>
          </a:xfrm>
          <a:prstGeom prst="roundRect">
            <a:avLst>
              <a:gd name="adj" fmla="val 3922"/>
            </a:avLst>
          </a:prstGeom>
          <a:solidFill>
            <a:srgbClr val="F7F3EA"/>
          </a:solidFill>
          <a:ln w="12700">
            <a:solidFill>
              <a:srgbClr val="F7F3EA"/>
            </a:solidFill>
            <a:prstDash val="solid"/>
          </a:ln>
        </p:spPr>
      </p:sp>
      <p:sp>
        <p:nvSpPr>
          <p:cNvPr id="12" name="Text 10"/>
          <p:cNvSpPr txBox="1"/>
          <p:nvPr/>
        </p:nvSpPr>
        <p:spPr>
          <a:xfrm>
            <a:off x="1033272" y="4544568"/>
            <a:ext cx="10058400" cy="256032"/>
          </a:xfrm>
          <a:prstGeom prst="rect">
            <a:avLst/>
          </a:prstGeom>
          <a:noFill/>
          <a:ln/>
        </p:spPr>
        <p:txBody>
          <a:bodyPr wrap="square" lIns="0" tIns="0" rIns="0" bIns="0" rtlCol="0" anchor="ctr"/>
          <a:lstStyle/>
          <a:p>
            <a:pPr indent="0" marL="0">
              <a:buNone/>
            </a:pPr>
            <a:r>
              <a:rPr lang="en-US" sz="1200" b="1" dirty="0">
                <a:solidFill>
                  <a:srgbClr val="30383B"/>
                </a:solidFill>
                <a:latin typeface="Noto Sans" pitchFamily="34" charset="0"/>
                <a:ea typeface="Noto Sans" pitchFamily="34" charset="-122"/>
                <a:cs typeface="Noto Sans" pitchFamily="34" charset="-120"/>
              </a:rPr>
              <a:t>The feedback that was hardest to hear, and why, was...</a:t>
            </a:r>
            <a:endParaRPr lang="en-US" sz="1200" dirty="0"/>
          </a:p>
        </p:txBody>
      </p:sp>
      <p:sp>
        <p:nvSpPr>
          <p:cNvPr id="13" name="Shape 11"/>
          <p:cNvSpPr/>
          <p:nvPr/>
        </p:nvSpPr>
        <p:spPr>
          <a:xfrm>
            <a:off x="1033272" y="5093208"/>
            <a:ext cx="10104120" cy="0"/>
          </a:xfrm>
          <a:prstGeom prst="line">
            <a:avLst/>
          </a:prstGeom>
          <a:noFill/>
          <a:ln w="9525">
            <a:solidFill>
              <a:srgbClr val="D9CBB2"/>
            </a:solidFill>
            <a:prstDash val="solid"/>
          </a:ln>
        </p:spPr>
      </p:sp>
      <p:sp>
        <p:nvSpPr>
          <p:cNvPr id="14" name="Shape 12"/>
          <p:cNvSpPr/>
          <p:nvPr/>
        </p:nvSpPr>
        <p:spPr>
          <a:xfrm>
            <a:off x="777240" y="5477256"/>
            <a:ext cx="10607040" cy="932688"/>
          </a:xfrm>
          <a:prstGeom prst="roundRect">
            <a:avLst>
              <a:gd name="adj" fmla="val 3922"/>
            </a:avLst>
          </a:prstGeom>
          <a:solidFill>
            <a:srgbClr val="F7F3EA"/>
          </a:solidFill>
          <a:ln w="12700">
            <a:solidFill>
              <a:srgbClr val="F7F3EA"/>
            </a:solidFill>
            <a:prstDash val="solid"/>
          </a:ln>
        </p:spPr>
      </p:sp>
      <p:sp>
        <p:nvSpPr>
          <p:cNvPr id="15" name="Text 13"/>
          <p:cNvSpPr txBox="1"/>
          <p:nvPr/>
        </p:nvSpPr>
        <p:spPr>
          <a:xfrm>
            <a:off x="1033272" y="5623560"/>
            <a:ext cx="10058400" cy="256032"/>
          </a:xfrm>
          <a:prstGeom prst="rect">
            <a:avLst/>
          </a:prstGeom>
          <a:noFill/>
          <a:ln/>
        </p:spPr>
        <p:txBody>
          <a:bodyPr wrap="square" lIns="0" tIns="0" rIns="0" bIns="0" rtlCol="0" anchor="ctr"/>
          <a:lstStyle/>
          <a:p>
            <a:pPr indent="0" marL="0">
              <a:buNone/>
            </a:pPr>
            <a:r>
              <a:rPr lang="en-US" sz="1200" b="1" dirty="0">
                <a:solidFill>
                  <a:srgbClr val="30383B"/>
                </a:solidFill>
                <a:latin typeface="Noto Sans" pitchFamily="34" charset="0"/>
                <a:ea typeface="Noto Sans" pitchFamily="34" charset="-122"/>
                <a:cs typeface="Noto Sans" pitchFamily="34" charset="-120"/>
              </a:rPr>
              <a:t>The strength I most want to keep building on is...</a:t>
            </a:r>
            <a:endParaRPr lang="en-US" sz="1200" dirty="0"/>
          </a:p>
        </p:txBody>
      </p:sp>
      <p:sp>
        <p:nvSpPr>
          <p:cNvPr id="16" name="Shape 14"/>
          <p:cNvSpPr/>
          <p:nvPr/>
        </p:nvSpPr>
        <p:spPr>
          <a:xfrm>
            <a:off x="1033272" y="6172200"/>
            <a:ext cx="10104120" cy="0"/>
          </a:xfrm>
          <a:prstGeom prst="line">
            <a:avLst/>
          </a:prstGeom>
          <a:noFill/>
          <a:ln w="9525">
            <a:solidFill>
              <a:srgbClr val="D9CBB2"/>
            </a:solidFill>
            <a:prstDash val="solid"/>
          </a:ln>
        </p:spPr>
      </p:sp>
      <p:sp>
        <p:nvSpPr>
          <p:cNvPr id="17" name="Text 15"/>
          <p:cNvSpPr txBox="1"/>
          <p:nvPr/>
        </p:nvSpPr>
        <p:spPr>
          <a:xfrm>
            <a:off x="777240" y="6355080"/>
            <a:ext cx="5486400" cy="228600"/>
          </a:xfrm>
          <a:prstGeom prst="rect">
            <a:avLst/>
          </a:prstGeom>
          <a:noFill/>
          <a:ln/>
        </p:spPr>
        <p:txBody>
          <a:bodyPr wrap="square" lIns="0" tIns="0" rIns="0" bIns="0" rtlCol="0" anchor="ctr"/>
          <a:lstStyle/>
          <a:p>
            <a:pPr indent="0" marL="0">
              <a:buNone/>
            </a:pPr>
            <a:r>
              <a:rPr lang="en-US" sz="900" dirty="0">
                <a:solidFill>
                  <a:srgbClr val="D9CBB2"/>
                </a:solidFill>
                <a:latin typeface="Noto Sans" pitchFamily="34" charset="0"/>
                <a:ea typeface="Noto Sans" pitchFamily="34" charset="-122"/>
                <a:cs typeface="Noto Sans" pitchFamily="34" charset="-120"/>
              </a:rPr>
              <a:t>CARE 360 Leadership Action Plan</a:t>
            </a:r>
            <a:endParaRPr lang="en-US" sz="900" dirty="0"/>
          </a:p>
        </p:txBody>
      </p:sp>
      <p:sp>
        <p:nvSpPr>
          <p:cNvPr id="18" name="Text 16"/>
          <p:cNvSpPr txBox="1"/>
          <p:nvPr/>
        </p:nvSpPr>
        <p:spPr>
          <a:xfrm>
            <a:off x="7754112" y="6355080"/>
            <a:ext cx="3657600" cy="228600"/>
          </a:xfrm>
          <a:prstGeom prst="rect">
            <a:avLst/>
          </a:prstGeom>
          <a:noFill/>
          <a:ln/>
        </p:spPr>
        <p:txBody>
          <a:bodyPr wrap="square" lIns="0" tIns="0" rIns="0" bIns="0" rtlCol="0" anchor="ctr"/>
          <a:lstStyle/>
          <a:p>
            <a:pPr algn="r" indent="0" marL="0">
              <a:buNone/>
            </a:pPr>
            <a:r>
              <a:rPr lang="en-US" sz="900" dirty="0">
                <a:solidFill>
                  <a:srgbClr val="D9CBB2"/>
                </a:solidFill>
                <a:latin typeface="Noto Sans" pitchFamily="34" charset="0"/>
                <a:ea typeface="Noto Sans" pitchFamily="34" charset="-122"/>
                <a:cs typeface="Noto Sans" pitchFamily="34" charset="-120"/>
              </a:rPr>
              <a:t>Reflection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685800"/>
            <a:ext cx="7315200" cy="228600"/>
          </a:xfrm>
          <a:prstGeom prst="rect">
            <a:avLst/>
          </a:prstGeom>
          <a:noFill/>
          <a:ln/>
        </p:spPr>
        <p:txBody>
          <a:bodyPr wrap="square" lIns="0" tIns="0" rIns="0" bIns="0" rtlCol="0" anchor="ctr"/>
          <a:lstStyle/>
          <a:p>
            <a:pPr indent="0" marL="0">
              <a:buNone/>
            </a:pPr>
            <a:r>
              <a:rPr lang="en-US" sz="1000" b="1" spc="200" kern="0" dirty="0">
                <a:solidFill>
                  <a:srgbClr val="A9633D"/>
                </a:solidFill>
                <a:latin typeface="Noto Sans" pitchFamily="34" charset="0"/>
                <a:ea typeface="Noto Sans" pitchFamily="34" charset="-122"/>
                <a:cs typeface="Noto Sans" pitchFamily="34" charset="-120"/>
              </a:rPr>
              <a:t>STEP TWO</a:t>
            </a:r>
            <a:endParaRPr lang="en-US" sz="1000" dirty="0"/>
          </a:p>
        </p:txBody>
      </p:sp>
      <p:sp>
        <p:nvSpPr>
          <p:cNvPr id="3" name="Text 1"/>
          <p:cNvSpPr txBox="1"/>
          <p:nvPr/>
        </p:nvSpPr>
        <p:spPr>
          <a:xfrm>
            <a:off x="777240" y="960120"/>
            <a:ext cx="10058400" cy="548640"/>
          </a:xfrm>
          <a:prstGeom prst="rect">
            <a:avLst/>
          </a:prstGeom>
          <a:noFill/>
          <a:ln/>
        </p:spPr>
        <p:txBody>
          <a:bodyPr wrap="square" lIns="0" tIns="0" rIns="0" bIns="0" rtlCol="0" anchor="ctr"/>
          <a:lstStyle/>
          <a:p>
            <a:pPr indent="0" marL="0">
              <a:buNone/>
            </a:pPr>
            <a:r>
              <a:rPr lang="en-US" sz="3400" b="1" dirty="0">
                <a:solidFill>
                  <a:srgbClr val="30383B"/>
                </a:solidFill>
                <a:latin typeface="EB Garamond" pitchFamily="34" charset="0"/>
                <a:ea typeface="EB Garamond" pitchFamily="34" charset="-122"/>
                <a:cs typeface="EB Garamond" pitchFamily="34" charset="-120"/>
              </a:rPr>
              <a:t>Your three priorities</a:t>
            </a:r>
            <a:endParaRPr lang="en-US" sz="3400" dirty="0"/>
          </a:p>
        </p:txBody>
      </p:sp>
      <p:sp>
        <p:nvSpPr>
          <p:cNvPr id="4" name="Text 2"/>
          <p:cNvSpPr txBox="1"/>
          <p:nvPr/>
        </p:nvSpPr>
        <p:spPr>
          <a:xfrm>
            <a:off x="777240" y="1664208"/>
            <a:ext cx="10241280" cy="274320"/>
          </a:xfrm>
          <a:prstGeom prst="rect">
            <a:avLst/>
          </a:prstGeom>
          <a:noFill/>
          <a:ln/>
        </p:spPr>
        <p:txBody>
          <a:bodyPr wrap="square" lIns="0" tIns="0" rIns="0" bIns="0" rtlCol="0" anchor="ctr"/>
          <a:lstStyle/>
          <a:p>
            <a:pPr indent="0" marL="0">
              <a:buNone/>
            </a:pPr>
            <a:r>
              <a:rPr lang="en-US" sz="1250" dirty="0">
                <a:solidFill>
                  <a:srgbClr val="6B7275"/>
                </a:solidFill>
                <a:latin typeface="Noto Sans" pitchFamily="34" charset="0"/>
                <a:ea typeface="Noto Sans" pitchFamily="34" charset="-122"/>
                <a:cs typeface="Noto Sans" pitchFamily="34" charset="-120"/>
              </a:rPr>
              <a:t>Name each priority and the CARE dimension it sits closest to. You will develop each one on the pages that follow.</a:t>
            </a:r>
            <a:endParaRPr lang="en-US" sz="1250" dirty="0"/>
          </a:p>
        </p:txBody>
      </p:sp>
      <p:sp>
        <p:nvSpPr>
          <p:cNvPr id="5" name="Shape 3"/>
          <p:cNvSpPr/>
          <p:nvPr/>
        </p:nvSpPr>
        <p:spPr>
          <a:xfrm>
            <a:off x="777240" y="2286000"/>
            <a:ext cx="3291840" cy="3246120"/>
          </a:xfrm>
          <a:prstGeom prst="roundRect">
            <a:avLst>
              <a:gd name="adj" fmla="val 1127"/>
            </a:avLst>
          </a:prstGeom>
          <a:solidFill>
            <a:srgbClr val="F7F3EA"/>
          </a:solidFill>
          <a:ln w="12700">
            <a:solidFill>
              <a:srgbClr val="F7F3EA"/>
            </a:solidFill>
            <a:prstDash val="solid"/>
          </a:ln>
        </p:spPr>
      </p:sp>
      <p:sp>
        <p:nvSpPr>
          <p:cNvPr id="6" name="Shape 4"/>
          <p:cNvSpPr/>
          <p:nvPr/>
        </p:nvSpPr>
        <p:spPr>
          <a:xfrm>
            <a:off x="1051560" y="2560320"/>
            <a:ext cx="457200" cy="457200"/>
          </a:xfrm>
          <a:prstGeom prst="ellipse">
            <a:avLst/>
          </a:prstGeom>
          <a:solidFill>
            <a:srgbClr val="A9633D"/>
          </a:solidFill>
          <a:ln w="12700">
            <a:solidFill>
              <a:srgbClr val="A9633D"/>
            </a:solidFill>
            <a:prstDash val="solid"/>
          </a:ln>
        </p:spPr>
      </p:sp>
      <p:sp>
        <p:nvSpPr>
          <p:cNvPr id="7" name="Text 5"/>
          <p:cNvSpPr txBox="1"/>
          <p:nvPr/>
        </p:nvSpPr>
        <p:spPr>
          <a:xfrm>
            <a:off x="1051560" y="2633472"/>
            <a:ext cx="45720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Noto Sans" pitchFamily="34" charset="0"/>
                <a:ea typeface="Noto Sans" pitchFamily="34" charset="-122"/>
                <a:cs typeface="Noto Sans" pitchFamily="34" charset="-120"/>
              </a:rPr>
              <a:t>1</a:t>
            </a:r>
            <a:endParaRPr lang="en-US" sz="1400" dirty="0"/>
          </a:p>
        </p:txBody>
      </p:sp>
      <p:sp>
        <p:nvSpPr>
          <p:cNvPr id="8" name="Text 6"/>
          <p:cNvSpPr txBox="1"/>
          <p:nvPr/>
        </p:nvSpPr>
        <p:spPr>
          <a:xfrm>
            <a:off x="1051560" y="3200400"/>
            <a:ext cx="2743200" cy="201168"/>
          </a:xfrm>
          <a:prstGeom prst="rect">
            <a:avLst/>
          </a:prstGeom>
          <a:noFill/>
          <a:ln/>
        </p:spPr>
        <p:txBody>
          <a:bodyPr wrap="square" lIns="0" tIns="0" rIns="0" bIns="0" rtlCol="0" anchor="ctr"/>
          <a:lstStyle/>
          <a:p>
            <a:pPr indent="0" marL="0">
              <a:buNone/>
            </a:pPr>
            <a:r>
              <a:rPr lang="en-US" sz="900" b="1" spc="120" kern="0" dirty="0">
                <a:solidFill>
                  <a:srgbClr val="6B7275"/>
                </a:solidFill>
                <a:latin typeface="Noto Sans" pitchFamily="34" charset="0"/>
                <a:ea typeface="Noto Sans" pitchFamily="34" charset="-122"/>
                <a:cs typeface="Noto Sans" pitchFamily="34" charset="-120"/>
              </a:rPr>
              <a:t>PRIORITY ONE</a:t>
            </a:r>
            <a:endParaRPr lang="en-US" sz="900" dirty="0"/>
          </a:p>
        </p:txBody>
      </p:sp>
      <p:sp>
        <p:nvSpPr>
          <p:cNvPr id="9" name="Shape 7"/>
          <p:cNvSpPr/>
          <p:nvPr/>
        </p:nvSpPr>
        <p:spPr>
          <a:xfrm>
            <a:off x="1051560" y="3712464"/>
            <a:ext cx="2743200" cy="0"/>
          </a:xfrm>
          <a:prstGeom prst="line">
            <a:avLst/>
          </a:prstGeom>
          <a:noFill/>
          <a:ln w="9525">
            <a:solidFill>
              <a:srgbClr val="E3DCCF"/>
            </a:solidFill>
            <a:prstDash val="solid"/>
          </a:ln>
        </p:spPr>
      </p:sp>
      <p:sp>
        <p:nvSpPr>
          <p:cNvPr id="10" name="Shape 8"/>
          <p:cNvSpPr/>
          <p:nvPr/>
        </p:nvSpPr>
        <p:spPr>
          <a:xfrm>
            <a:off x="1051560" y="4041648"/>
            <a:ext cx="2743200" cy="0"/>
          </a:xfrm>
          <a:prstGeom prst="line">
            <a:avLst/>
          </a:prstGeom>
          <a:noFill/>
          <a:ln w="9525">
            <a:solidFill>
              <a:srgbClr val="E3DCCF"/>
            </a:solidFill>
            <a:prstDash val="solid"/>
          </a:ln>
        </p:spPr>
      </p:sp>
      <p:sp>
        <p:nvSpPr>
          <p:cNvPr id="11" name="Text 9"/>
          <p:cNvSpPr txBox="1"/>
          <p:nvPr/>
        </p:nvSpPr>
        <p:spPr>
          <a:xfrm>
            <a:off x="1051560" y="4526280"/>
            <a:ext cx="2743200" cy="201168"/>
          </a:xfrm>
          <a:prstGeom prst="rect">
            <a:avLst/>
          </a:prstGeom>
          <a:noFill/>
          <a:ln/>
        </p:spPr>
        <p:txBody>
          <a:bodyPr wrap="square" lIns="0" tIns="0" rIns="0" bIns="0" rtlCol="0" anchor="ctr"/>
          <a:lstStyle/>
          <a:p>
            <a:pPr indent="0" marL="0">
              <a:buNone/>
            </a:pPr>
            <a:r>
              <a:rPr lang="en-US" sz="900" b="1" spc="120" kern="0" dirty="0">
                <a:solidFill>
                  <a:srgbClr val="6B7275"/>
                </a:solidFill>
                <a:latin typeface="Noto Sans" pitchFamily="34" charset="0"/>
                <a:ea typeface="Noto Sans" pitchFamily="34" charset="-122"/>
                <a:cs typeface="Noto Sans" pitchFamily="34" charset="-120"/>
              </a:rPr>
              <a:t>CARE DIMENSION</a:t>
            </a:r>
            <a:endParaRPr lang="en-US" sz="900" dirty="0"/>
          </a:p>
        </p:txBody>
      </p:sp>
      <p:sp>
        <p:nvSpPr>
          <p:cNvPr id="12" name="Shape 10"/>
          <p:cNvSpPr/>
          <p:nvPr/>
        </p:nvSpPr>
        <p:spPr>
          <a:xfrm>
            <a:off x="1051560" y="5029200"/>
            <a:ext cx="2743200" cy="0"/>
          </a:xfrm>
          <a:prstGeom prst="line">
            <a:avLst/>
          </a:prstGeom>
          <a:noFill/>
          <a:ln w="9525">
            <a:solidFill>
              <a:srgbClr val="E3DCCF"/>
            </a:solidFill>
            <a:prstDash val="solid"/>
          </a:ln>
        </p:spPr>
      </p:sp>
      <p:sp>
        <p:nvSpPr>
          <p:cNvPr id="13" name="Shape 11"/>
          <p:cNvSpPr/>
          <p:nvPr/>
        </p:nvSpPr>
        <p:spPr>
          <a:xfrm>
            <a:off x="4617720" y="2286000"/>
            <a:ext cx="3291840" cy="3246120"/>
          </a:xfrm>
          <a:prstGeom prst="roundRect">
            <a:avLst>
              <a:gd name="adj" fmla="val 1127"/>
            </a:avLst>
          </a:prstGeom>
          <a:solidFill>
            <a:srgbClr val="F7F3EA"/>
          </a:solidFill>
          <a:ln w="12700">
            <a:solidFill>
              <a:srgbClr val="F7F3EA"/>
            </a:solidFill>
            <a:prstDash val="solid"/>
          </a:ln>
        </p:spPr>
      </p:sp>
      <p:sp>
        <p:nvSpPr>
          <p:cNvPr id="14" name="Shape 12"/>
          <p:cNvSpPr/>
          <p:nvPr/>
        </p:nvSpPr>
        <p:spPr>
          <a:xfrm>
            <a:off x="4892040" y="2560320"/>
            <a:ext cx="457200" cy="457200"/>
          </a:xfrm>
          <a:prstGeom prst="ellipse">
            <a:avLst/>
          </a:prstGeom>
          <a:solidFill>
            <a:srgbClr val="7C8863"/>
          </a:solidFill>
          <a:ln w="12700">
            <a:solidFill>
              <a:srgbClr val="7C8863"/>
            </a:solidFill>
            <a:prstDash val="solid"/>
          </a:ln>
        </p:spPr>
      </p:sp>
      <p:sp>
        <p:nvSpPr>
          <p:cNvPr id="15" name="Text 13"/>
          <p:cNvSpPr txBox="1"/>
          <p:nvPr/>
        </p:nvSpPr>
        <p:spPr>
          <a:xfrm>
            <a:off x="4892040" y="2633472"/>
            <a:ext cx="45720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Noto Sans" pitchFamily="34" charset="0"/>
                <a:ea typeface="Noto Sans" pitchFamily="34" charset="-122"/>
                <a:cs typeface="Noto Sans" pitchFamily="34" charset="-120"/>
              </a:rPr>
              <a:t>2</a:t>
            </a:r>
            <a:endParaRPr lang="en-US" sz="1400" dirty="0"/>
          </a:p>
        </p:txBody>
      </p:sp>
      <p:sp>
        <p:nvSpPr>
          <p:cNvPr id="16" name="Text 14"/>
          <p:cNvSpPr txBox="1"/>
          <p:nvPr/>
        </p:nvSpPr>
        <p:spPr>
          <a:xfrm>
            <a:off x="4892040" y="3200400"/>
            <a:ext cx="2743200" cy="201168"/>
          </a:xfrm>
          <a:prstGeom prst="rect">
            <a:avLst/>
          </a:prstGeom>
          <a:noFill/>
          <a:ln/>
        </p:spPr>
        <p:txBody>
          <a:bodyPr wrap="square" lIns="0" tIns="0" rIns="0" bIns="0" rtlCol="0" anchor="ctr"/>
          <a:lstStyle/>
          <a:p>
            <a:pPr indent="0" marL="0">
              <a:buNone/>
            </a:pPr>
            <a:r>
              <a:rPr lang="en-US" sz="900" b="1" spc="120" kern="0" dirty="0">
                <a:solidFill>
                  <a:srgbClr val="6B7275"/>
                </a:solidFill>
                <a:latin typeface="Noto Sans" pitchFamily="34" charset="0"/>
                <a:ea typeface="Noto Sans" pitchFamily="34" charset="-122"/>
                <a:cs typeface="Noto Sans" pitchFamily="34" charset="-120"/>
              </a:rPr>
              <a:t>PRIORITY TWO</a:t>
            </a:r>
            <a:endParaRPr lang="en-US" sz="900" dirty="0"/>
          </a:p>
        </p:txBody>
      </p:sp>
      <p:sp>
        <p:nvSpPr>
          <p:cNvPr id="17" name="Shape 15"/>
          <p:cNvSpPr/>
          <p:nvPr/>
        </p:nvSpPr>
        <p:spPr>
          <a:xfrm>
            <a:off x="4892040" y="3712464"/>
            <a:ext cx="2743200" cy="0"/>
          </a:xfrm>
          <a:prstGeom prst="line">
            <a:avLst/>
          </a:prstGeom>
          <a:noFill/>
          <a:ln w="9525">
            <a:solidFill>
              <a:srgbClr val="E3DCCF"/>
            </a:solidFill>
            <a:prstDash val="solid"/>
          </a:ln>
        </p:spPr>
      </p:sp>
      <p:sp>
        <p:nvSpPr>
          <p:cNvPr id="18" name="Shape 16"/>
          <p:cNvSpPr/>
          <p:nvPr/>
        </p:nvSpPr>
        <p:spPr>
          <a:xfrm>
            <a:off x="4892040" y="4041648"/>
            <a:ext cx="2743200" cy="0"/>
          </a:xfrm>
          <a:prstGeom prst="line">
            <a:avLst/>
          </a:prstGeom>
          <a:noFill/>
          <a:ln w="9525">
            <a:solidFill>
              <a:srgbClr val="E3DCCF"/>
            </a:solidFill>
            <a:prstDash val="solid"/>
          </a:ln>
        </p:spPr>
      </p:sp>
      <p:sp>
        <p:nvSpPr>
          <p:cNvPr id="19" name="Text 17"/>
          <p:cNvSpPr txBox="1"/>
          <p:nvPr/>
        </p:nvSpPr>
        <p:spPr>
          <a:xfrm>
            <a:off x="4892040" y="4526280"/>
            <a:ext cx="2743200" cy="201168"/>
          </a:xfrm>
          <a:prstGeom prst="rect">
            <a:avLst/>
          </a:prstGeom>
          <a:noFill/>
          <a:ln/>
        </p:spPr>
        <p:txBody>
          <a:bodyPr wrap="square" lIns="0" tIns="0" rIns="0" bIns="0" rtlCol="0" anchor="ctr"/>
          <a:lstStyle/>
          <a:p>
            <a:pPr indent="0" marL="0">
              <a:buNone/>
            </a:pPr>
            <a:r>
              <a:rPr lang="en-US" sz="900" b="1" spc="120" kern="0" dirty="0">
                <a:solidFill>
                  <a:srgbClr val="6B7275"/>
                </a:solidFill>
                <a:latin typeface="Noto Sans" pitchFamily="34" charset="0"/>
                <a:ea typeface="Noto Sans" pitchFamily="34" charset="-122"/>
                <a:cs typeface="Noto Sans" pitchFamily="34" charset="-120"/>
              </a:rPr>
              <a:t>CARE DIMENSION</a:t>
            </a:r>
            <a:endParaRPr lang="en-US" sz="900" dirty="0"/>
          </a:p>
        </p:txBody>
      </p:sp>
      <p:sp>
        <p:nvSpPr>
          <p:cNvPr id="20" name="Shape 18"/>
          <p:cNvSpPr/>
          <p:nvPr/>
        </p:nvSpPr>
        <p:spPr>
          <a:xfrm>
            <a:off x="4892040" y="5029200"/>
            <a:ext cx="2743200" cy="0"/>
          </a:xfrm>
          <a:prstGeom prst="line">
            <a:avLst/>
          </a:prstGeom>
          <a:noFill/>
          <a:ln w="9525">
            <a:solidFill>
              <a:srgbClr val="E3DCCF"/>
            </a:solidFill>
            <a:prstDash val="solid"/>
          </a:ln>
        </p:spPr>
      </p:sp>
      <p:sp>
        <p:nvSpPr>
          <p:cNvPr id="21" name="Shape 19"/>
          <p:cNvSpPr/>
          <p:nvPr/>
        </p:nvSpPr>
        <p:spPr>
          <a:xfrm>
            <a:off x="8458200" y="2286000"/>
            <a:ext cx="3291840" cy="3246120"/>
          </a:xfrm>
          <a:prstGeom prst="roundRect">
            <a:avLst>
              <a:gd name="adj" fmla="val 1127"/>
            </a:avLst>
          </a:prstGeom>
          <a:solidFill>
            <a:srgbClr val="F7F3EA"/>
          </a:solidFill>
          <a:ln w="12700">
            <a:solidFill>
              <a:srgbClr val="F7F3EA"/>
            </a:solidFill>
            <a:prstDash val="solid"/>
          </a:ln>
        </p:spPr>
      </p:sp>
      <p:sp>
        <p:nvSpPr>
          <p:cNvPr id="22" name="Shape 20"/>
          <p:cNvSpPr/>
          <p:nvPr/>
        </p:nvSpPr>
        <p:spPr>
          <a:xfrm>
            <a:off x="8732520" y="2560320"/>
            <a:ext cx="457200" cy="457200"/>
          </a:xfrm>
          <a:prstGeom prst="ellipse">
            <a:avLst/>
          </a:prstGeom>
          <a:solidFill>
            <a:srgbClr val="C08A3E"/>
          </a:solidFill>
          <a:ln w="12700">
            <a:solidFill>
              <a:srgbClr val="C08A3E"/>
            </a:solidFill>
            <a:prstDash val="solid"/>
          </a:ln>
        </p:spPr>
      </p:sp>
      <p:sp>
        <p:nvSpPr>
          <p:cNvPr id="23" name="Text 21"/>
          <p:cNvSpPr txBox="1"/>
          <p:nvPr/>
        </p:nvSpPr>
        <p:spPr>
          <a:xfrm>
            <a:off x="8732520" y="2633472"/>
            <a:ext cx="45720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Noto Sans" pitchFamily="34" charset="0"/>
                <a:ea typeface="Noto Sans" pitchFamily="34" charset="-122"/>
                <a:cs typeface="Noto Sans" pitchFamily="34" charset="-120"/>
              </a:rPr>
              <a:t>3</a:t>
            </a:r>
            <a:endParaRPr lang="en-US" sz="1400" dirty="0"/>
          </a:p>
        </p:txBody>
      </p:sp>
      <p:sp>
        <p:nvSpPr>
          <p:cNvPr id="24" name="Text 22"/>
          <p:cNvSpPr txBox="1"/>
          <p:nvPr/>
        </p:nvSpPr>
        <p:spPr>
          <a:xfrm>
            <a:off x="8732520" y="3200400"/>
            <a:ext cx="2743200" cy="201168"/>
          </a:xfrm>
          <a:prstGeom prst="rect">
            <a:avLst/>
          </a:prstGeom>
          <a:noFill/>
          <a:ln/>
        </p:spPr>
        <p:txBody>
          <a:bodyPr wrap="square" lIns="0" tIns="0" rIns="0" bIns="0" rtlCol="0" anchor="ctr"/>
          <a:lstStyle/>
          <a:p>
            <a:pPr indent="0" marL="0">
              <a:buNone/>
            </a:pPr>
            <a:r>
              <a:rPr lang="en-US" sz="900" b="1" spc="120" kern="0" dirty="0">
                <a:solidFill>
                  <a:srgbClr val="6B7275"/>
                </a:solidFill>
                <a:latin typeface="Noto Sans" pitchFamily="34" charset="0"/>
                <a:ea typeface="Noto Sans" pitchFamily="34" charset="-122"/>
                <a:cs typeface="Noto Sans" pitchFamily="34" charset="-120"/>
              </a:rPr>
              <a:t>PRIORITY THREE</a:t>
            </a:r>
            <a:endParaRPr lang="en-US" sz="900" dirty="0"/>
          </a:p>
        </p:txBody>
      </p:sp>
      <p:sp>
        <p:nvSpPr>
          <p:cNvPr id="25" name="Shape 23"/>
          <p:cNvSpPr/>
          <p:nvPr/>
        </p:nvSpPr>
        <p:spPr>
          <a:xfrm>
            <a:off x="8732520" y="3712464"/>
            <a:ext cx="2743200" cy="0"/>
          </a:xfrm>
          <a:prstGeom prst="line">
            <a:avLst/>
          </a:prstGeom>
          <a:noFill/>
          <a:ln w="9525">
            <a:solidFill>
              <a:srgbClr val="E3DCCF"/>
            </a:solidFill>
            <a:prstDash val="solid"/>
          </a:ln>
        </p:spPr>
      </p:sp>
      <p:sp>
        <p:nvSpPr>
          <p:cNvPr id="26" name="Shape 24"/>
          <p:cNvSpPr/>
          <p:nvPr/>
        </p:nvSpPr>
        <p:spPr>
          <a:xfrm>
            <a:off x="8732520" y="4041648"/>
            <a:ext cx="2743200" cy="0"/>
          </a:xfrm>
          <a:prstGeom prst="line">
            <a:avLst/>
          </a:prstGeom>
          <a:noFill/>
          <a:ln w="9525">
            <a:solidFill>
              <a:srgbClr val="E3DCCF"/>
            </a:solidFill>
            <a:prstDash val="solid"/>
          </a:ln>
        </p:spPr>
      </p:sp>
      <p:sp>
        <p:nvSpPr>
          <p:cNvPr id="27" name="Text 25"/>
          <p:cNvSpPr txBox="1"/>
          <p:nvPr/>
        </p:nvSpPr>
        <p:spPr>
          <a:xfrm>
            <a:off x="8732520" y="4526280"/>
            <a:ext cx="2743200" cy="201168"/>
          </a:xfrm>
          <a:prstGeom prst="rect">
            <a:avLst/>
          </a:prstGeom>
          <a:noFill/>
          <a:ln/>
        </p:spPr>
        <p:txBody>
          <a:bodyPr wrap="square" lIns="0" tIns="0" rIns="0" bIns="0" rtlCol="0" anchor="ctr"/>
          <a:lstStyle/>
          <a:p>
            <a:pPr indent="0" marL="0">
              <a:buNone/>
            </a:pPr>
            <a:r>
              <a:rPr lang="en-US" sz="900" b="1" spc="120" kern="0" dirty="0">
                <a:solidFill>
                  <a:srgbClr val="6B7275"/>
                </a:solidFill>
                <a:latin typeface="Noto Sans" pitchFamily="34" charset="0"/>
                <a:ea typeface="Noto Sans" pitchFamily="34" charset="-122"/>
                <a:cs typeface="Noto Sans" pitchFamily="34" charset="-120"/>
              </a:rPr>
              <a:t>CARE DIMENSION</a:t>
            </a:r>
            <a:endParaRPr lang="en-US" sz="900" dirty="0"/>
          </a:p>
        </p:txBody>
      </p:sp>
      <p:sp>
        <p:nvSpPr>
          <p:cNvPr id="28" name="Shape 26"/>
          <p:cNvSpPr/>
          <p:nvPr/>
        </p:nvSpPr>
        <p:spPr>
          <a:xfrm>
            <a:off x="8732520" y="5029200"/>
            <a:ext cx="2743200" cy="0"/>
          </a:xfrm>
          <a:prstGeom prst="line">
            <a:avLst/>
          </a:prstGeom>
          <a:noFill/>
          <a:ln w="9525">
            <a:solidFill>
              <a:srgbClr val="E3DCCF"/>
            </a:solidFill>
            <a:prstDash val="solid"/>
          </a:ln>
        </p:spPr>
      </p:sp>
      <p:sp>
        <p:nvSpPr>
          <p:cNvPr id="29" name="Text 27"/>
          <p:cNvSpPr txBox="1"/>
          <p:nvPr/>
        </p:nvSpPr>
        <p:spPr>
          <a:xfrm>
            <a:off x="777240" y="5806440"/>
            <a:ext cx="10607040" cy="274320"/>
          </a:xfrm>
          <a:prstGeom prst="rect">
            <a:avLst/>
          </a:prstGeom>
          <a:noFill/>
          <a:ln/>
        </p:spPr>
        <p:txBody>
          <a:bodyPr wrap="square" lIns="0" tIns="0" rIns="0" bIns="0" rtlCol="0" anchor="ctr"/>
          <a:lstStyle/>
          <a:p>
            <a:pPr indent="0" marL="0">
              <a:buNone/>
            </a:pPr>
            <a:r>
              <a:rPr lang="en-US" sz="1100" i="1" dirty="0">
                <a:solidFill>
                  <a:srgbClr val="6B7275"/>
                </a:solidFill>
                <a:latin typeface="Noto Sans" pitchFamily="34" charset="0"/>
                <a:ea typeface="Noto Sans" pitchFamily="34" charset="-122"/>
                <a:cs typeface="Noto Sans" pitchFamily="34" charset="-120"/>
              </a:rPr>
              <a:t>The CARE dimensions:  Connect   ·   Accountable   ·   Reach   ·   Empower   ·   Leadership Effectiveness</a:t>
            </a:r>
            <a:endParaRPr lang="en-US" sz="1100" dirty="0"/>
          </a:p>
        </p:txBody>
      </p:sp>
      <p:sp>
        <p:nvSpPr>
          <p:cNvPr id="30" name="Text 28"/>
          <p:cNvSpPr txBox="1"/>
          <p:nvPr/>
        </p:nvSpPr>
        <p:spPr>
          <a:xfrm>
            <a:off x="777240" y="6355080"/>
            <a:ext cx="5486400" cy="228600"/>
          </a:xfrm>
          <a:prstGeom prst="rect">
            <a:avLst/>
          </a:prstGeom>
          <a:noFill/>
          <a:ln/>
        </p:spPr>
        <p:txBody>
          <a:bodyPr wrap="square" lIns="0" tIns="0" rIns="0" bIns="0" rtlCol="0" anchor="ctr"/>
          <a:lstStyle/>
          <a:p>
            <a:pPr indent="0" marL="0">
              <a:buNone/>
            </a:pPr>
            <a:r>
              <a:rPr lang="en-US" sz="900" dirty="0">
                <a:solidFill>
                  <a:srgbClr val="D9CBB2"/>
                </a:solidFill>
                <a:latin typeface="Noto Sans" pitchFamily="34" charset="0"/>
                <a:ea typeface="Noto Sans" pitchFamily="34" charset="-122"/>
                <a:cs typeface="Noto Sans" pitchFamily="34" charset="-120"/>
              </a:rPr>
              <a:t>CARE 360 Leadership Action Plan</a:t>
            </a:r>
            <a:endParaRPr lang="en-US" sz="900" dirty="0"/>
          </a:p>
        </p:txBody>
      </p:sp>
      <p:sp>
        <p:nvSpPr>
          <p:cNvPr id="31" name="Text 29"/>
          <p:cNvSpPr txBox="1"/>
          <p:nvPr/>
        </p:nvSpPr>
        <p:spPr>
          <a:xfrm>
            <a:off x="7754112" y="6355080"/>
            <a:ext cx="3657600" cy="228600"/>
          </a:xfrm>
          <a:prstGeom prst="rect">
            <a:avLst/>
          </a:prstGeom>
          <a:noFill/>
          <a:ln/>
        </p:spPr>
        <p:txBody>
          <a:bodyPr wrap="square" lIns="0" tIns="0" rIns="0" bIns="0" rtlCol="0" anchor="ctr"/>
          <a:lstStyle/>
          <a:p>
            <a:pPr algn="r" indent="0" marL="0">
              <a:buNone/>
            </a:pPr>
            <a:r>
              <a:rPr lang="en-US" sz="900" dirty="0">
                <a:solidFill>
                  <a:srgbClr val="D9CBB2"/>
                </a:solidFill>
                <a:latin typeface="Noto Sans" pitchFamily="34" charset="0"/>
                <a:ea typeface="Noto Sans" pitchFamily="34" charset="-122"/>
                <a:cs typeface="Noto Sans" pitchFamily="34" charset="-120"/>
              </a:rPr>
              <a:t>Priorities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7240" y="658368"/>
            <a:ext cx="420624" cy="420624"/>
          </a:xfrm>
          <a:prstGeom prst="ellipse">
            <a:avLst/>
          </a:prstGeom>
          <a:solidFill>
            <a:srgbClr val="A9633D"/>
          </a:solidFill>
          <a:ln w="12700">
            <a:solidFill>
              <a:srgbClr val="A9633D"/>
            </a:solidFill>
            <a:prstDash val="solid"/>
          </a:ln>
        </p:spPr>
      </p:sp>
      <p:sp>
        <p:nvSpPr>
          <p:cNvPr id="3" name="Text 1"/>
          <p:cNvSpPr txBox="1"/>
          <p:nvPr/>
        </p:nvSpPr>
        <p:spPr>
          <a:xfrm>
            <a:off x="777240" y="722376"/>
            <a:ext cx="420624"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pitchFamily="34" charset="0"/>
                <a:ea typeface="Noto Sans" pitchFamily="34" charset="-122"/>
                <a:cs typeface="Noto Sans" pitchFamily="34" charset="-120"/>
              </a:rPr>
              <a:t>1</a:t>
            </a:r>
            <a:endParaRPr lang="en-US" sz="1300" dirty="0"/>
          </a:p>
        </p:txBody>
      </p:sp>
      <p:sp>
        <p:nvSpPr>
          <p:cNvPr id="4" name="Text 2"/>
          <p:cNvSpPr txBox="1"/>
          <p:nvPr/>
        </p:nvSpPr>
        <p:spPr>
          <a:xfrm>
            <a:off x="1435608" y="713232"/>
            <a:ext cx="5486400" cy="228600"/>
          </a:xfrm>
          <a:prstGeom prst="rect">
            <a:avLst/>
          </a:prstGeom>
          <a:noFill/>
          <a:ln/>
        </p:spPr>
        <p:txBody>
          <a:bodyPr wrap="square" lIns="0" tIns="0" rIns="0" bIns="0" rtlCol="0" anchor="ctr"/>
          <a:lstStyle/>
          <a:p>
            <a:pPr indent="0" marL="0">
              <a:buNone/>
            </a:pPr>
            <a:r>
              <a:rPr lang="en-US" sz="1000" b="1" spc="200" kern="0" dirty="0">
                <a:solidFill>
                  <a:srgbClr val="A9633D"/>
                </a:solidFill>
                <a:latin typeface="Noto Sans" pitchFamily="34" charset="0"/>
                <a:ea typeface="Noto Sans" pitchFamily="34" charset="-122"/>
                <a:cs typeface="Noto Sans" pitchFamily="34" charset="-120"/>
              </a:rPr>
              <a:t>PRIORITY ONE</a:t>
            </a:r>
            <a:endParaRPr lang="en-US" sz="1000" dirty="0"/>
          </a:p>
        </p:txBody>
      </p:sp>
      <p:sp>
        <p:nvSpPr>
          <p:cNvPr id="5" name="Text 3"/>
          <p:cNvSpPr txBox="1"/>
          <p:nvPr/>
        </p:nvSpPr>
        <p:spPr>
          <a:xfrm>
            <a:off x="1435608" y="987552"/>
            <a:ext cx="7315200" cy="457200"/>
          </a:xfrm>
          <a:prstGeom prst="rect">
            <a:avLst/>
          </a:prstGeom>
          <a:noFill/>
          <a:ln/>
        </p:spPr>
        <p:txBody>
          <a:bodyPr wrap="square" lIns="0" tIns="0" rIns="0" bIns="0" rtlCol="0" anchor="ctr"/>
          <a:lstStyle/>
          <a:p>
            <a:pPr indent="0" marL="0">
              <a:buNone/>
            </a:pPr>
            <a:r>
              <a:rPr lang="en-US" sz="3000" b="1" dirty="0">
                <a:solidFill>
                  <a:srgbClr val="30383B"/>
                </a:solidFill>
                <a:latin typeface="EB Garamond" pitchFamily="34" charset="0"/>
                <a:ea typeface="EB Garamond" pitchFamily="34" charset="-122"/>
                <a:cs typeface="EB Garamond" pitchFamily="34" charset="-120"/>
              </a:rPr>
              <a:t>What I am working on</a:t>
            </a:r>
            <a:endParaRPr lang="en-US" sz="3000" dirty="0"/>
          </a:p>
        </p:txBody>
      </p:sp>
      <p:sp>
        <p:nvSpPr>
          <p:cNvPr id="6" name="Text 4"/>
          <p:cNvSpPr txBox="1"/>
          <p:nvPr/>
        </p:nvSpPr>
        <p:spPr>
          <a:xfrm>
            <a:off x="8302752" y="713232"/>
            <a:ext cx="3108960" cy="201168"/>
          </a:xfrm>
          <a:prstGeom prst="rect">
            <a:avLst/>
          </a:prstGeom>
          <a:noFill/>
          <a:ln/>
        </p:spPr>
        <p:txBody>
          <a:bodyPr wrap="square" lIns="0" tIns="0" rIns="0" bIns="0" rtlCol="0" anchor="ctr"/>
          <a:lstStyle/>
          <a:p>
            <a:pPr algn="r" indent="0" marL="0">
              <a:buNone/>
            </a:pPr>
            <a:r>
              <a:rPr lang="en-US" sz="900" b="1" spc="120" kern="0" dirty="0">
                <a:solidFill>
                  <a:srgbClr val="6B7275"/>
                </a:solidFill>
                <a:latin typeface="Noto Sans" pitchFamily="34" charset="0"/>
                <a:ea typeface="Noto Sans" pitchFamily="34" charset="-122"/>
                <a:cs typeface="Noto Sans" pitchFamily="34" charset="-120"/>
              </a:rPr>
              <a:t>CARE DIMENSION</a:t>
            </a:r>
            <a:endParaRPr lang="en-US" sz="900" dirty="0"/>
          </a:p>
        </p:txBody>
      </p:sp>
      <p:sp>
        <p:nvSpPr>
          <p:cNvPr id="7" name="Shape 5"/>
          <p:cNvSpPr/>
          <p:nvPr/>
        </p:nvSpPr>
        <p:spPr>
          <a:xfrm>
            <a:off x="8302752" y="1207008"/>
            <a:ext cx="3108960" cy="0"/>
          </a:xfrm>
          <a:prstGeom prst="line">
            <a:avLst/>
          </a:prstGeom>
          <a:noFill/>
          <a:ln w="9525">
            <a:solidFill>
              <a:srgbClr val="E3DCCF"/>
            </a:solidFill>
            <a:prstDash val="solid"/>
          </a:ln>
        </p:spPr>
      </p:sp>
      <p:sp>
        <p:nvSpPr>
          <p:cNvPr id="8" name="Shape 6"/>
          <p:cNvSpPr/>
          <p:nvPr/>
        </p:nvSpPr>
        <p:spPr>
          <a:xfrm>
            <a:off x="777240" y="1783080"/>
            <a:ext cx="10607040" cy="1051560"/>
          </a:xfrm>
          <a:prstGeom prst="roundRect">
            <a:avLst>
              <a:gd name="adj" fmla="val 3478"/>
            </a:avLst>
          </a:prstGeom>
          <a:solidFill>
            <a:srgbClr val="F7F3EA"/>
          </a:solidFill>
          <a:ln w="12700">
            <a:solidFill>
              <a:srgbClr val="F7F3EA"/>
            </a:solidFill>
            <a:prstDash val="solid"/>
          </a:ln>
        </p:spPr>
      </p:sp>
      <p:sp>
        <p:nvSpPr>
          <p:cNvPr id="9" name="Text 7"/>
          <p:cNvSpPr txBox="1"/>
          <p:nvPr/>
        </p:nvSpPr>
        <p:spPr>
          <a:xfrm>
            <a:off x="1033272" y="1938528"/>
            <a:ext cx="5486400" cy="201168"/>
          </a:xfrm>
          <a:prstGeom prst="rect">
            <a:avLst/>
          </a:prstGeom>
          <a:noFill/>
          <a:ln/>
        </p:spPr>
        <p:txBody>
          <a:bodyPr wrap="square" lIns="0" tIns="0" rIns="0" bIns="0" rtlCol="0" anchor="ctr"/>
          <a:lstStyle/>
          <a:p>
            <a:pPr indent="0" marL="0">
              <a:buNone/>
            </a:pPr>
            <a:r>
              <a:rPr lang="en-US" sz="900" b="1" spc="120" kern="0" dirty="0">
                <a:solidFill>
                  <a:srgbClr val="6B7275"/>
                </a:solidFill>
                <a:latin typeface="Noto Sans" pitchFamily="34" charset="0"/>
                <a:ea typeface="Noto Sans" pitchFamily="34" charset="-122"/>
                <a:cs typeface="Noto Sans" pitchFamily="34" charset="-120"/>
              </a:rPr>
              <a:t>THE PRIORITY</a:t>
            </a:r>
            <a:endParaRPr lang="en-US" sz="900" dirty="0"/>
          </a:p>
        </p:txBody>
      </p:sp>
      <p:sp>
        <p:nvSpPr>
          <p:cNvPr id="10" name="Text 8"/>
          <p:cNvSpPr txBox="1"/>
          <p:nvPr/>
        </p:nvSpPr>
        <p:spPr>
          <a:xfrm>
            <a:off x="2971800" y="1938528"/>
            <a:ext cx="5486400" cy="201168"/>
          </a:xfrm>
          <a:prstGeom prst="rect">
            <a:avLst/>
          </a:prstGeom>
          <a:noFill/>
          <a:ln/>
        </p:spPr>
        <p:txBody>
          <a:bodyPr wrap="square" lIns="0" tIns="0" rIns="0" bIns="0" rtlCol="0" anchor="ctr"/>
          <a:lstStyle/>
          <a:p>
            <a:pPr indent="0" marL="0">
              <a:buNone/>
            </a:pPr>
            <a:r>
              <a:rPr lang="en-US" sz="900" i="1" dirty="0">
                <a:solidFill>
                  <a:srgbClr val="A2A8AB"/>
                </a:solidFill>
                <a:latin typeface="Noto Sans" pitchFamily="34" charset="0"/>
                <a:ea typeface="Noto Sans" pitchFamily="34" charset="-122"/>
                <a:cs typeface="Noto Sans" pitchFamily="34" charset="-120"/>
              </a:rPr>
              <a:t>Write it as a behaviour someone else could observe.</a:t>
            </a:r>
            <a:endParaRPr lang="en-US" sz="900" dirty="0"/>
          </a:p>
        </p:txBody>
      </p:sp>
      <p:sp>
        <p:nvSpPr>
          <p:cNvPr id="11" name="Shape 9"/>
          <p:cNvSpPr/>
          <p:nvPr/>
        </p:nvSpPr>
        <p:spPr>
          <a:xfrm>
            <a:off x="1033272" y="2578608"/>
            <a:ext cx="10104120" cy="0"/>
          </a:xfrm>
          <a:prstGeom prst="line">
            <a:avLst/>
          </a:prstGeom>
          <a:noFill/>
          <a:ln w="9525">
            <a:solidFill>
              <a:srgbClr val="D9CBB2"/>
            </a:solidFill>
            <a:prstDash val="solid"/>
          </a:ln>
        </p:spPr>
      </p:sp>
      <p:sp>
        <p:nvSpPr>
          <p:cNvPr id="12" name="Text 10"/>
          <p:cNvSpPr txBox="1"/>
          <p:nvPr/>
        </p:nvSpPr>
        <p:spPr>
          <a:xfrm>
            <a:off x="777240" y="3063240"/>
            <a:ext cx="5029200" cy="201168"/>
          </a:xfrm>
          <a:prstGeom prst="rect">
            <a:avLst/>
          </a:prstGeom>
          <a:noFill/>
          <a:ln/>
        </p:spPr>
        <p:txBody>
          <a:bodyPr wrap="square" lIns="0" tIns="0" rIns="0" bIns="0" rtlCol="0" anchor="ctr"/>
          <a:lstStyle/>
          <a:p>
            <a:pPr indent="0" marL="0">
              <a:buNone/>
            </a:pPr>
            <a:r>
              <a:rPr lang="en-US" sz="900" b="1" spc="120" kern="0" dirty="0">
                <a:solidFill>
                  <a:srgbClr val="6B7275"/>
                </a:solidFill>
                <a:latin typeface="Noto Sans" pitchFamily="34" charset="0"/>
                <a:ea typeface="Noto Sans" pitchFamily="34" charset="-122"/>
                <a:cs typeface="Noto Sans" pitchFamily="34" charset="-120"/>
              </a:rPr>
              <a:t>WHY THIS MATTERS, BASED ON MY FEEDBACK</a:t>
            </a:r>
            <a:endParaRPr lang="en-US" sz="900" dirty="0"/>
          </a:p>
        </p:txBody>
      </p:sp>
      <p:sp>
        <p:nvSpPr>
          <p:cNvPr id="13" name="Shape 11"/>
          <p:cNvSpPr/>
          <p:nvPr/>
        </p:nvSpPr>
        <p:spPr>
          <a:xfrm>
            <a:off x="777240" y="3630168"/>
            <a:ext cx="5029200" cy="0"/>
          </a:xfrm>
          <a:prstGeom prst="line">
            <a:avLst/>
          </a:prstGeom>
          <a:noFill/>
          <a:ln w="9525">
            <a:solidFill>
              <a:srgbClr val="E3DCCF"/>
            </a:solidFill>
            <a:prstDash val="solid"/>
          </a:ln>
        </p:spPr>
      </p:sp>
      <p:sp>
        <p:nvSpPr>
          <p:cNvPr id="14" name="Shape 12"/>
          <p:cNvSpPr/>
          <p:nvPr/>
        </p:nvSpPr>
        <p:spPr>
          <a:xfrm>
            <a:off x="777240" y="3959352"/>
            <a:ext cx="5029200" cy="0"/>
          </a:xfrm>
          <a:prstGeom prst="line">
            <a:avLst/>
          </a:prstGeom>
          <a:noFill/>
          <a:ln w="9525">
            <a:solidFill>
              <a:srgbClr val="E3DCCF"/>
            </a:solidFill>
            <a:prstDash val="solid"/>
          </a:ln>
        </p:spPr>
      </p:sp>
      <p:sp>
        <p:nvSpPr>
          <p:cNvPr id="15" name="Shape 13"/>
          <p:cNvSpPr/>
          <p:nvPr/>
        </p:nvSpPr>
        <p:spPr>
          <a:xfrm>
            <a:off x="777240" y="4288536"/>
            <a:ext cx="5029200" cy="0"/>
          </a:xfrm>
          <a:prstGeom prst="line">
            <a:avLst/>
          </a:prstGeom>
          <a:noFill/>
          <a:ln w="9525">
            <a:solidFill>
              <a:srgbClr val="E3DCCF"/>
            </a:solidFill>
            <a:prstDash val="solid"/>
          </a:ln>
        </p:spPr>
      </p:sp>
      <p:sp>
        <p:nvSpPr>
          <p:cNvPr id="16" name="Text 14"/>
          <p:cNvSpPr txBox="1"/>
          <p:nvPr/>
        </p:nvSpPr>
        <p:spPr>
          <a:xfrm>
            <a:off x="6382512" y="3063240"/>
            <a:ext cx="5029200" cy="201168"/>
          </a:xfrm>
          <a:prstGeom prst="rect">
            <a:avLst/>
          </a:prstGeom>
          <a:noFill/>
          <a:ln/>
        </p:spPr>
        <p:txBody>
          <a:bodyPr wrap="square" lIns="0" tIns="0" rIns="0" bIns="0" rtlCol="0" anchor="ctr"/>
          <a:lstStyle/>
          <a:p>
            <a:pPr indent="0" marL="0">
              <a:buNone/>
            </a:pPr>
            <a:r>
              <a:rPr lang="en-US" sz="900" b="1" spc="120" kern="0" dirty="0">
                <a:solidFill>
                  <a:srgbClr val="6B7275"/>
                </a:solidFill>
                <a:latin typeface="Noto Sans" pitchFamily="34" charset="0"/>
                <a:ea typeface="Noto Sans" pitchFamily="34" charset="-122"/>
                <a:cs typeface="Noto Sans" pitchFamily="34" charset="-120"/>
              </a:rPr>
              <a:t>WHAT I WILL ACTUALLY DO</a:t>
            </a:r>
            <a:endParaRPr lang="en-US" sz="900" dirty="0"/>
          </a:p>
        </p:txBody>
      </p:sp>
      <p:sp>
        <p:nvSpPr>
          <p:cNvPr id="17" name="Shape 15"/>
          <p:cNvSpPr/>
          <p:nvPr/>
        </p:nvSpPr>
        <p:spPr>
          <a:xfrm>
            <a:off x="6382512" y="3630168"/>
            <a:ext cx="5029200" cy="0"/>
          </a:xfrm>
          <a:prstGeom prst="line">
            <a:avLst/>
          </a:prstGeom>
          <a:noFill/>
          <a:ln w="9525">
            <a:solidFill>
              <a:srgbClr val="E3DCCF"/>
            </a:solidFill>
            <a:prstDash val="solid"/>
          </a:ln>
        </p:spPr>
      </p:sp>
      <p:sp>
        <p:nvSpPr>
          <p:cNvPr id="18" name="Shape 16"/>
          <p:cNvSpPr/>
          <p:nvPr/>
        </p:nvSpPr>
        <p:spPr>
          <a:xfrm>
            <a:off x="6382512" y="3959352"/>
            <a:ext cx="5029200" cy="0"/>
          </a:xfrm>
          <a:prstGeom prst="line">
            <a:avLst/>
          </a:prstGeom>
          <a:noFill/>
          <a:ln w="9525">
            <a:solidFill>
              <a:srgbClr val="E3DCCF"/>
            </a:solidFill>
            <a:prstDash val="solid"/>
          </a:ln>
        </p:spPr>
      </p:sp>
      <p:sp>
        <p:nvSpPr>
          <p:cNvPr id="19" name="Shape 17"/>
          <p:cNvSpPr/>
          <p:nvPr/>
        </p:nvSpPr>
        <p:spPr>
          <a:xfrm>
            <a:off x="6382512" y="4288536"/>
            <a:ext cx="5029200" cy="0"/>
          </a:xfrm>
          <a:prstGeom prst="line">
            <a:avLst/>
          </a:prstGeom>
          <a:noFill/>
          <a:ln w="9525">
            <a:solidFill>
              <a:srgbClr val="E3DCCF"/>
            </a:solidFill>
            <a:prstDash val="solid"/>
          </a:ln>
        </p:spPr>
      </p:sp>
      <p:sp>
        <p:nvSpPr>
          <p:cNvPr id="20" name="Text 18"/>
          <p:cNvSpPr txBox="1"/>
          <p:nvPr/>
        </p:nvSpPr>
        <p:spPr>
          <a:xfrm>
            <a:off x="777240" y="5074920"/>
            <a:ext cx="5029200" cy="201168"/>
          </a:xfrm>
          <a:prstGeom prst="rect">
            <a:avLst/>
          </a:prstGeom>
          <a:noFill/>
          <a:ln/>
        </p:spPr>
        <p:txBody>
          <a:bodyPr wrap="square" lIns="0" tIns="0" rIns="0" bIns="0" rtlCol="0" anchor="ctr"/>
          <a:lstStyle/>
          <a:p>
            <a:pPr indent="0" marL="0">
              <a:buNone/>
            </a:pPr>
            <a:r>
              <a:rPr lang="en-US" sz="900" b="1" spc="120" kern="0" dirty="0">
                <a:solidFill>
                  <a:srgbClr val="6B7275"/>
                </a:solidFill>
                <a:latin typeface="Noto Sans" pitchFamily="34" charset="0"/>
                <a:ea typeface="Noto Sans" pitchFamily="34" charset="-122"/>
                <a:cs typeface="Noto Sans" pitchFamily="34" charset="-120"/>
              </a:rPr>
              <a:t>HOW I WILL KNOW IT IS WORKING</a:t>
            </a:r>
            <a:endParaRPr lang="en-US" sz="900" dirty="0"/>
          </a:p>
        </p:txBody>
      </p:sp>
      <p:sp>
        <p:nvSpPr>
          <p:cNvPr id="21" name="Shape 19"/>
          <p:cNvSpPr/>
          <p:nvPr/>
        </p:nvSpPr>
        <p:spPr>
          <a:xfrm>
            <a:off x="777240" y="5641848"/>
            <a:ext cx="5029200" cy="0"/>
          </a:xfrm>
          <a:prstGeom prst="line">
            <a:avLst/>
          </a:prstGeom>
          <a:noFill/>
          <a:ln w="9525">
            <a:solidFill>
              <a:srgbClr val="E3DCCF"/>
            </a:solidFill>
            <a:prstDash val="solid"/>
          </a:ln>
        </p:spPr>
      </p:sp>
      <p:sp>
        <p:nvSpPr>
          <p:cNvPr id="22" name="Shape 20"/>
          <p:cNvSpPr/>
          <p:nvPr/>
        </p:nvSpPr>
        <p:spPr>
          <a:xfrm>
            <a:off x="777240" y="5971032"/>
            <a:ext cx="5029200" cy="0"/>
          </a:xfrm>
          <a:prstGeom prst="line">
            <a:avLst/>
          </a:prstGeom>
          <a:noFill/>
          <a:ln w="9525">
            <a:solidFill>
              <a:srgbClr val="E3DCCF"/>
            </a:solidFill>
            <a:prstDash val="solid"/>
          </a:ln>
        </p:spPr>
      </p:sp>
      <p:sp>
        <p:nvSpPr>
          <p:cNvPr id="23" name="Text 21"/>
          <p:cNvSpPr txBox="1"/>
          <p:nvPr/>
        </p:nvSpPr>
        <p:spPr>
          <a:xfrm>
            <a:off x="6382512" y="5074920"/>
            <a:ext cx="5029200" cy="201168"/>
          </a:xfrm>
          <a:prstGeom prst="rect">
            <a:avLst/>
          </a:prstGeom>
          <a:noFill/>
          <a:ln/>
        </p:spPr>
        <p:txBody>
          <a:bodyPr wrap="square" lIns="0" tIns="0" rIns="0" bIns="0" rtlCol="0" anchor="ctr"/>
          <a:lstStyle/>
          <a:p>
            <a:pPr indent="0" marL="0">
              <a:buNone/>
            </a:pPr>
            <a:r>
              <a:rPr lang="en-US" sz="900" b="1" spc="120" kern="0" dirty="0">
                <a:solidFill>
                  <a:srgbClr val="6B7275"/>
                </a:solidFill>
                <a:latin typeface="Noto Sans" pitchFamily="34" charset="0"/>
                <a:ea typeface="Noto Sans" pitchFamily="34" charset="-122"/>
                <a:cs typeface="Noto Sans" pitchFamily="34" charset="-120"/>
              </a:rPr>
              <a:t>WHO IS SUPPORTING ME</a:t>
            </a:r>
            <a:endParaRPr lang="en-US" sz="900" dirty="0"/>
          </a:p>
        </p:txBody>
      </p:sp>
      <p:sp>
        <p:nvSpPr>
          <p:cNvPr id="24" name="Shape 22"/>
          <p:cNvSpPr/>
          <p:nvPr/>
        </p:nvSpPr>
        <p:spPr>
          <a:xfrm>
            <a:off x="6382512" y="5641848"/>
            <a:ext cx="5029200" cy="0"/>
          </a:xfrm>
          <a:prstGeom prst="line">
            <a:avLst/>
          </a:prstGeom>
          <a:noFill/>
          <a:ln w="9525">
            <a:solidFill>
              <a:srgbClr val="E3DCCF"/>
            </a:solidFill>
            <a:prstDash val="solid"/>
          </a:ln>
        </p:spPr>
      </p:sp>
      <p:sp>
        <p:nvSpPr>
          <p:cNvPr id="25" name="Shape 23"/>
          <p:cNvSpPr/>
          <p:nvPr/>
        </p:nvSpPr>
        <p:spPr>
          <a:xfrm>
            <a:off x="6382512" y="5971032"/>
            <a:ext cx="5029200" cy="0"/>
          </a:xfrm>
          <a:prstGeom prst="line">
            <a:avLst/>
          </a:prstGeom>
          <a:noFill/>
          <a:ln w="9525">
            <a:solidFill>
              <a:srgbClr val="E3DCCF"/>
            </a:solidFill>
            <a:prstDash val="solid"/>
          </a:ln>
        </p:spPr>
      </p:sp>
      <p:sp>
        <p:nvSpPr>
          <p:cNvPr id="26" name="Text 24"/>
          <p:cNvSpPr txBox="1"/>
          <p:nvPr/>
        </p:nvSpPr>
        <p:spPr>
          <a:xfrm>
            <a:off x="777240" y="6355080"/>
            <a:ext cx="5486400" cy="228600"/>
          </a:xfrm>
          <a:prstGeom prst="rect">
            <a:avLst/>
          </a:prstGeom>
          <a:noFill/>
          <a:ln/>
        </p:spPr>
        <p:txBody>
          <a:bodyPr wrap="square" lIns="0" tIns="0" rIns="0" bIns="0" rtlCol="0" anchor="ctr"/>
          <a:lstStyle/>
          <a:p>
            <a:pPr indent="0" marL="0">
              <a:buNone/>
            </a:pPr>
            <a:r>
              <a:rPr lang="en-US" sz="900" dirty="0">
                <a:solidFill>
                  <a:srgbClr val="D9CBB2"/>
                </a:solidFill>
                <a:latin typeface="Noto Sans" pitchFamily="34" charset="0"/>
                <a:ea typeface="Noto Sans" pitchFamily="34" charset="-122"/>
                <a:cs typeface="Noto Sans" pitchFamily="34" charset="-120"/>
              </a:rPr>
              <a:t>CARE 360 Leadership Action Plan</a:t>
            </a:r>
            <a:endParaRPr lang="en-US" sz="900" dirty="0"/>
          </a:p>
        </p:txBody>
      </p:sp>
      <p:sp>
        <p:nvSpPr>
          <p:cNvPr id="27" name="Text 25"/>
          <p:cNvSpPr txBox="1"/>
          <p:nvPr/>
        </p:nvSpPr>
        <p:spPr>
          <a:xfrm>
            <a:off x="7754112" y="6355080"/>
            <a:ext cx="3657600" cy="228600"/>
          </a:xfrm>
          <a:prstGeom prst="rect">
            <a:avLst/>
          </a:prstGeom>
          <a:noFill/>
          <a:ln/>
        </p:spPr>
        <p:txBody>
          <a:bodyPr wrap="square" lIns="0" tIns="0" rIns="0" bIns="0" rtlCol="0" anchor="ctr"/>
          <a:lstStyle/>
          <a:p>
            <a:pPr algn="r" indent="0" marL="0">
              <a:buNone/>
            </a:pPr>
            <a:r>
              <a:rPr lang="en-US" sz="900" dirty="0">
                <a:solidFill>
                  <a:srgbClr val="D9CBB2"/>
                </a:solidFill>
                <a:latin typeface="Noto Sans" pitchFamily="34" charset="0"/>
                <a:ea typeface="Noto Sans" pitchFamily="34" charset="-122"/>
                <a:cs typeface="Noto Sans" pitchFamily="34" charset="-120"/>
              </a:rPr>
              <a:t>Priority One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7240" y="658368"/>
            <a:ext cx="420624" cy="420624"/>
          </a:xfrm>
          <a:prstGeom prst="ellipse">
            <a:avLst/>
          </a:prstGeom>
          <a:solidFill>
            <a:srgbClr val="7C8863"/>
          </a:solidFill>
          <a:ln w="12700">
            <a:solidFill>
              <a:srgbClr val="7C8863"/>
            </a:solidFill>
            <a:prstDash val="solid"/>
          </a:ln>
        </p:spPr>
      </p:sp>
      <p:sp>
        <p:nvSpPr>
          <p:cNvPr id="3" name="Text 1"/>
          <p:cNvSpPr txBox="1"/>
          <p:nvPr/>
        </p:nvSpPr>
        <p:spPr>
          <a:xfrm>
            <a:off x="777240" y="722376"/>
            <a:ext cx="420624"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pitchFamily="34" charset="0"/>
                <a:ea typeface="Noto Sans" pitchFamily="34" charset="-122"/>
                <a:cs typeface="Noto Sans" pitchFamily="34" charset="-120"/>
              </a:rPr>
              <a:t>2</a:t>
            </a:r>
            <a:endParaRPr lang="en-US" sz="1300" dirty="0"/>
          </a:p>
        </p:txBody>
      </p:sp>
      <p:sp>
        <p:nvSpPr>
          <p:cNvPr id="4" name="Text 2"/>
          <p:cNvSpPr txBox="1"/>
          <p:nvPr/>
        </p:nvSpPr>
        <p:spPr>
          <a:xfrm>
            <a:off x="1435608" y="713232"/>
            <a:ext cx="5486400" cy="228600"/>
          </a:xfrm>
          <a:prstGeom prst="rect">
            <a:avLst/>
          </a:prstGeom>
          <a:noFill/>
          <a:ln/>
        </p:spPr>
        <p:txBody>
          <a:bodyPr wrap="square" lIns="0" tIns="0" rIns="0" bIns="0" rtlCol="0" anchor="ctr"/>
          <a:lstStyle/>
          <a:p>
            <a:pPr indent="0" marL="0">
              <a:buNone/>
            </a:pPr>
            <a:r>
              <a:rPr lang="en-US" sz="1000" b="1" spc="200" kern="0" dirty="0">
                <a:solidFill>
                  <a:srgbClr val="7C8863"/>
                </a:solidFill>
                <a:latin typeface="Noto Sans" pitchFamily="34" charset="0"/>
                <a:ea typeface="Noto Sans" pitchFamily="34" charset="-122"/>
                <a:cs typeface="Noto Sans" pitchFamily="34" charset="-120"/>
              </a:rPr>
              <a:t>PRIORITY TWO</a:t>
            </a:r>
            <a:endParaRPr lang="en-US" sz="1000" dirty="0"/>
          </a:p>
        </p:txBody>
      </p:sp>
      <p:sp>
        <p:nvSpPr>
          <p:cNvPr id="5" name="Text 3"/>
          <p:cNvSpPr txBox="1"/>
          <p:nvPr/>
        </p:nvSpPr>
        <p:spPr>
          <a:xfrm>
            <a:off x="1435608" y="987552"/>
            <a:ext cx="7315200" cy="457200"/>
          </a:xfrm>
          <a:prstGeom prst="rect">
            <a:avLst/>
          </a:prstGeom>
          <a:noFill/>
          <a:ln/>
        </p:spPr>
        <p:txBody>
          <a:bodyPr wrap="square" lIns="0" tIns="0" rIns="0" bIns="0" rtlCol="0" anchor="ctr"/>
          <a:lstStyle/>
          <a:p>
            <a:pPr indent="0" marL="0">
              <a:buNone/>
            </a:pPr>
            <a:r>
              <a:rPr lang="en-US" sz="3000" b="1" dirty="0">
                <a:solidFill>
                  <a:srgbClr val="30383B"/>
                </a:solidFill>
                <a:latin typeface="EB Garamond" pitchFamily="34" charset="0"/>
                <a:ea typeface="EB Garamond" pitchFamily="34" charset="-122"/>
                <a:cs typeface="EB Garamond" pitchFamily="34" charset="-120"/>
              </a:rPr>
              <a:t>What I am working on</a:t>
            </a:r>
            <a:endParaRPr lang="en-US" sz="3000" dirty="0"/>
          </a:p>
        </p:txBody>
      </p:sp>
      <p:sp>
        <p:nvSpPr>
          <p:cNvPr id="6" name="Text 4"/>
          <p:cNvSpPr txBox="1"/>
          <p:nvPr/>
        </p:nvSpPr>
        <p:spPr>
          <a:xfrm>
            <a:off x="8302752" y="713232"/>
            <a:ext cx="3108960" cy="201168"/>
          </a:xfrm>
          <a:prstGeom prst="rect">
            <a:avLst/>
          </a:prstGeom>
          <a:noFill/>
          <a:ln/>
        </p:spPr>
        <p:txBody>
          <a:bodyPr wrap="square" lIns="0" tIns="0" rIns="0" bIns="0" rtlCol="0" anchor="ctr"/>
          <a:lstStyle/>
          <a:p>
            <a:pPr algn="r" indent="0" marL="0">
              <a:buNone/>
            </a:pPr>
            <a:r>
              <a:rPr lang="en-US" sz="900" b="1" spc="120" kern="0" dirty="0">
                <a:solidFill>
                  <a:srgbClr val="6B7275"/>
                </a:solidFill>
                <a:latin typeface="Noto Sans" pitchFamily="34" charset="0"/>
                <a:ea typeface="Noto Sans" pitchFamily="34" charset="-122"/>
                <a:cs typeface="Noto Sans" pitchFamily="34" charset="-120"/>
              </a:rPr>
              <a:t>CARE DIMENSION</a:t>
            </a:r>
            <a:endParaRPr lang="en-US" sz="900" dirty="0"/>
          </a:p>
        </p:txBody>
      </p:sp>
      <p:sp>
        <p:nvSpPr>
          <p:cNvPr id="7" name="Shape 5"/>
          <p:cNvSpPr/>
          <p:nvPr/>
        </p:nvSpPr>
        <p:spPr>
          <a:xfrm>
            <a:off x="8302752" y="1207008"/>
            <a:ext cx="3108960" cy="0"/>
          </a:xfrm>
          <a:prstGeom prst="line">
            <a:avLst/>
          </a:prstGeom>
          <a:noFill/>
          <a:ln w="9525">
            <a:solidFill>
              <a:srgbClr val="E3DCCF"/>
            </a:solidFill>
            <a:prstDash val="solid"/>
          </a:ln>
        </p:spPr>
      </p:sp>
      <p:sp>
        <p:nvSpPr>
          <p:cNvPr id="8" name="Shape 6"/>
          <p:cNvSpPr/>
          <p:nvPr/>
        </p:nvSpPr>
        <p:spPr>
          <a:xfrm>
            <a:off x="777240" y="1783080"/>
            <a:ext cx="10607040" cy="1051560"/>
          </a:xfrm>
          <a:prstGeom prst="roundRect">
            <a:avLst>
              <a:gd name="adj" fmla="val 3478"/>
            </a:avLst>
          </a:prstGeom>
          <a:solidFill>
            <a:srgbClr val="F7F3EA"/>
          </a:solidFill>
          <a:ln w="12700">
            <a:solidFill>
              <a:srgbClr val="F7F3EA"/>
            </a:solidFill>
            <a:prstDash val="solid"/>
          </a:ln>
        </p:spPr>
      </p:sp>
      <p:sp>
        <p:nvSpPr>
          <p:cNvPr id="9" name="Text 7"/>
          <p:cNvSpPr txBox="1"/>
          <p:nvPr/>
        </p:nvSpPr>
        <p:spPr>
          <a:xfrm>
            <a:off x="1033272" y="1938528"/>
            <a:ext cx="5486400" cy="201168"/>
          </a:xfrm>
          <a:prstGeom prst="rect">
            <a:avLst/>
          </a:prstGeom>
          <a:noFill/>
          <a:ln/>
        </p:spPr>
        <p:txBody>
          <a:bodyPr wrap="square" lIns="0" tIns="0" rIns="0" bIns="0" rtlCol="0" anchor="ctr"/>
          <a:lstStyle/>
          <a:p>
            <a:pPr indent="0" marL="0">
              <a:buNone/>
            </a:pPr>
            <a:r>
              <a:rPr lang="en-US" sz="900" b="1" spc="120" kern="0" dirty="0">
                <a:solidFill>
                  <a:srgbClr val="6B7275"/>
                </a:solidFill>
                <a:latin typeface="Noto Sans" pitchFamily="34" charset="0"/>
                <a:ea typeface="Noto Sans" pitchFamily="34" charset="-122"/>
                <a:cs typeface="Noto Sans" pitchFamily="34" charset="-120"/>
              </a:rPr>
              <a:t>THE PRIORITY</a:t>
            </a:r>
            <a:endParaRPr lang="en-US" sz="900" dirty="0"/>
          </a:p>
        </p:txBody>
      </p:sp>
      <p:sp>
        <p:nvSpPr>
          <p:cNvPr id="10" name="Text 8"/>
          <p:cNvSpPr txBox="1"/>
          <p:nvPr/>
        </p:nvSpPr>
        <p:spPr>
          <a:xfrm>
            <a:off x="2971800" y="1938528"/>
            <a:ext cx="5486400" cy="201168"/>
          </a:xfrm>
          <a:prstGeom prst="rect">
            <a:avLst/>
          </a:prstGeom>
          <a:noFill/>
          <a:ln/>
        </p:spPr>
        <p:txBody>
          <a:bodyPr wrap="square" lIns="0" tIns="0" rIns="0" bIns="0" rtlCol="0" anchor="ctr"/>
          <a:lstStyle/>
          <a:p>
            <a:pPr indent="0" marL="0">
              <a:buNone/>
            </a:pPr>
            <a:r>
              <a:rPr lang="en-US" sz="900" i="1" dirty="0">
                <a:solidFill>
                  <a:srgbClr val="A2A8AB"/>
                </a:solidFill>
                <a:latin typeface="Noto Sans" pitchFamily="34" charset="0"/>
                <a:ea typeface="Noto Sans" pitchFamily="34" charset="-122"/>
                <a:cs typeface="Noto Sans" pitchFamily="34" charset="-120"/>
              </a:rPr>
              <a:t>Write it as a behaviour someone else could observe.</a:t>
            </a:r>
            <a:endParaRPr lang="en-US" sz="900" dirty="0"/>
          </a:p>
        </p:txBody>
      </p:sp>
      <p:sp>
        <p:nvSpPr>
          <p:cNvPr id="11" name="Shape 9"/>
          <p:cNvSpPr/>
          <p:nvPr/>
        </p:nvSpPr>
        <p:spPr>
          <a:xfrm>
            <a:off x="1033272" y="2578608"/>
            <a:ext cx="10104120" cy="0"/>
          </a:xfrm>
          <a:prstGeom prst="line">
            <a:avLst/>
          </a:prstGeom>
          <a:noFill/>
          <a:ln w="9525">
            <a:solidFill>
              <a:srgbClr val="D9CBB2"/>
            </a:solidFill>
            <a:prstDash val="solid"/>
          </a:ln>
        </p:spPr>
      </p:sp>
      <p:sp>
        <p:nvSpPr>
          <p:cNvPr id="12" name="Text 10"/>
          <p:cNvSpPr txBox="1"/>
          <p:nvPr/>
        </p:nvSpPr>
        <p:spPr>
          <a:xfrm>
            <a:off x="777240" y="3063240"/>
            <a:ext cx="5029200" cy="201168"/>
          </a:xfrm>
          <a:prstGeom prst="rect">
            <a:avLst/>
          </a:prstGeom>
          <a:noFill/>
          <a:ln/>
        </p:spPr>
        <p:txBody>
          <a:bodyPr wrap="square" lIns="0" tIns="0" rIns="0" bIns="0" rtlCol="0" anchor="ctr"/>
          <a:lstStyle/>
          <a:p>
            <a:pPr indent="0" marL="0">
              <a:buNone/>
            </a:pPr>
            <a:r>
              <a:rPr lang="en-US" sz="900" b="1" spc="120" kern="0" dirty="0">
                <a:solidFill>
                  <a:srgbClr val="6B7275"/>
                </a:solidFill>
                <a:latin typeface="Noto Sans" pitchFamily="34" charset="0"/>
                <a:ea typeface="Noto Sans" pitchFamily="34" charset="-122"/>
                <a:cs typeface="Noto Sans" pitchFamily="34" charset="-120"/>
              </a:rPr>
              <a:t>WHY THIS MATTERS, BASED ON MY FEEDBACK</a:t>
            </a:r>
            <a:endParaRPr lang="en-US" sz="900" dirty="0"/>
          </a:p>
        </p:txBody>
      </p:sp>
      <p:sp>
        <p:nvSpPr>
          <p:cNvPr id="13" name="Shape 11"/>
          <p:cNvSpPr/>
          <p:nvPr/>
        </p:nvSpPr>
        <p:spPr>
          <a:xfrm>
            <a:off x="777240" y="3630168"/>
            <a:ext cx="5029200" cy="0"/>
          </a:xfrm>
          <a:prstGeom prst="line">
            <a:avLst/>
          </a:prstGeom>
          <a:noFill/>
          <a:ln w="9525">
            <a:solidFill>
              <a:srgbClr val="E3DCCF"/>
            </a:solidFill>
            <a:prstDash val="solid"/>
          </a:ln>
        </p:spPr>
      </p:sp>
      <p:sp>
        <p:nvSpPr>
          <p:cNvPr id="14" name="Shape 12"/>
          <p:cNvSpPr/>
          <p:nvPr/>
        </p:nvSpPr>
        <p:spPr>
          <a:xfrm>
            <a:off x="777240" y="3959352"/>
            <a:ext cx="5029200" cy="0"/>
          </a:xfrm>
          <a:prstGeom prst="line">
            <a:avLst/>
          </a:prstGeom>
          <a:noFill/>
          <a:ln w="9525">
            <a:solidFill>
              <a:srgbClr val="E3DCCF"/>
            </a:solidFill>
            <a:prstDash val="solid"/>
          </a:ln>
        </p:spPr>
      </p:sp>
      <p:sp>
        <p:nvSpPr>
          <p:cNvPr id="15" name="Shape 13"/>
          <p:cNvSpPr/>
          <p:nvPr/>
        </p:nvSpPr>
        <p:spPr>
          <a:xfrm>
            <a:off x="777240" y="4288536"/>
            <a:ext cx="5029200" cy="0"/>
          </a:xfrm>
          <a:prstGeom prst="line">
            <a:avLst/>
          </a:prstGeom>
          <a:noFill/>
          <a:ln w="9525">
            <a:solidFill>
              <a:srgbClr val="E3DCCF"/>
            </a:solidFill>
            <a:prstDash val="solid"/>
          </a:ln>
        </p:spPr>
      </p:sp>
      <p:sp>
        <p:nvSpPr>
          <p:cNvPr id="16" name="Text 14"/>
          <p:cNvSpPr txBox="1"/>
          <p:nvPr/>
        </p:nvSpPr>
        <p:spPr>
          <a:xfrm>
            <a:off x="6382512" y="3063240"/>
            <a:ext cx="5029200" cy="201168"/>
          </a:xfrm>
          <a:prstGeom prst="rect">
            <a:avLst/>
          </a:prstGeom>
          <a:noFill/>
          <a:ln/>
        </p:spPr>
        <p:txBody>
          <a:bodyPr wrap="square" lIns="0" tIns="0" rIns="0" bIns="0" rtlCol="0" anchor="ctr"/>
          <a:lstStyle/>
          <a:p>
            <a:pPr indent="0" marL="0">
              <a:buNone/>
            </a:pPr>
            <a:r>
              <a:rPr lang="en-US" sz="900" b="1" spc="120" kern="0" dirty="0">
                <a:solidFill>
                  <a:srgbClr val="6B7275"/>
                </a:solidFill>
                <a:latin typeface="Noto Sans" pitchFamily="34" charset="0"/>
                <a:ea typeface="Noto Sans" pitchFamily="34" charset="-122"/>
                <a:cs typeface="Noto Sans" pitchFamily="34" charset="-120"/>
              </a:rPr>
              <a:t>WHAT I WILL ACTUALLY DO</a:t>
            </a:r>
            <a:endParaRPr lang="en-US" sz="900" dirty="0"/>
          </a:p>
        </p:txBody>
      </p:sp>
      <p:sp>
        <p:nvSpPr>
          <p:cNvPr id="17" name="Shape 15"/>
          <p:cNvSpPr/>
          <p:nvPr/>
        </p:nvSpPr>
        <p:spPr>
          <a:xfrm>
            <a:off x="6382512" y="3630168"/>
            <a:ext cx="5029200" cy="0"/>
          </a:xfrm>
          <a:prstGeom prst="line">
            <a:avLst/>
          </a:prstGeom>
          <a:noFill/>
          <a:ln w="9525">
            <a:solidFill>
              <a:srgbClr val="E3DCCF"/>
            </a:solidFill>
            <a:prstDash val="solid"/>
          </a:ln>
        </p:spPr>
      </p:sp>
      <p:sp>
        <p:nvSpPr>
          <p:cNvPr id="18" name="Shape 16"/>
          <p:cNvSpPr/>
          <p:nvPr/>
        </p:nvSpPr>
        <p:spPr>
          <a:xfrm>
            <a:off x="6382512" y="3959352"/>
            <a:ext cx="5029200" cy="0"/>
          </a:xfrm>
          <a:prstGeom prst="line">
            <a:avLst/>
          </a:prstGeom>
          <a:noFill/>
          <a:ln w="9525">
            <a:solidFill>
              <a:srgbClr val="E3DCCF"/>
            </a:solidFill>
            <a:prstDash val="solid"/>
          </a:ln>
        </p:spPr>
      </p:sp>
      <p:sp>
        <p:nvSpPr>
          <p:cNvPr id="19" name="Shape 17"/>
          <p:cNvSpPr/>
          <p:nvPr/>
        </p:nvSpPr>
        <p:spPr>
          <a:xfrm>
            <a:off x="6382512" y="4288536"/>
            <a:ext cx="5029200" cy="0"/>
          </a:xfrm>
          <a:prstGeom prst="line">
            <a:avLst/>
          </a:prstGeom>
          <a:noFill/>
          <a:ln w="9525">
            <a:solidFill>
              <a:srgbClr val="E3DCCF"/>
            </a:solidFill>
            <a:prstDash val="solid"/>
          </a:ln>
        </p:spPr>
      </p:sp>
      <p:sp>
        <p:nvSpPr>
          <p:cNvPr id="20" name="Text 18"/>
          <p:cNvSpPr txBox="1"/>
          <p:nvPr/>
        </p:nvSpPr>
        <p:spPr>
          <a:xfrm>
            <a:off x="777240" y="5074920"/>
            <a:ext cx="5029200" cy="201168"/>
          </a:xfrm>
          <a:prstGeom prst="rect">
            <a:avLst/>
          </a:prstGeom>
          <a:noFill/>
          <a:ln/>
        </p:spPr>
        <p:txBody>
          <a:bodyPr wrap="square" lIns="0" tIns="0" rIns="0" bIns="0" rtlCol="0" anchor="ctr"/>
          <a:lstStyle/>
          <a:p>
            <a:pPr indent="0" marL="0">
              <a:buNone/>
            </a:pPr>
            <a:r>
              <a:rPr lang="en-US" sz="900" b="1" spc="120" kern="0" dirty="0">
                <a:solidFill>
                  <a:srgbClr val="6B7275"/>
                </a:solidFill>
                <a:latin typeface="Noto Sans" pitchFamily="34" charset="0"/>
                <a:ea typeface="Noto Sans" pitchFamily="34" charset="-122"/>
                <a:cs typeface="Noto Sans" pitchFamily="34" charset="-120"/>
              </a:rPr>
              <a:t>HOW I WILL KNOW IT IS WORKING</a:t>
            </a:r>
            <a:endParaRPr lang="en-US" sz="900" dirty="0"/>
          </a:p>
        </p:txBody>
      </p:sp>
      <p:sp>
        <p:nvSpPr>
          <p:cNvPr id="21" name="Shape 19"/>
          <p:cNvSpPr/>
          <p:nvPr/>
        </p:nvSpPr>
        <p:spPr>
          <a:xfrm>
            <a:off x="777240" y="5641848"/>
            <a:ext cx="5029200" cy="0"/>
          </a:xfrm>
          <a:prstGeom prst="line">
            <a:avLst/>
          </a:prstGeom>
          <a:noFill/>
          <a:ln w="9525">
            <a:solidFill>
              <a:srgbClr val="E3DCCF"/>
            </a:solidFill>
            <a:prstDash val="solid"/>
          </a:ln>
        </p:spPr>
      </p:sp>
      <p:sp>
        <p:nvSpPr>
          <p:cNvPr id="22" name="Shape 20"/>
          <p:cNvSpPr/>
          <p:nvPr/>
        </p:nvSpPr>
        <p:spPr>
          <a:xfrm>
            <a:off x="777240" y="5971032"/>
            <a:ext cx="5029200" cy="0"/>
          </a:xfrm>
          <a:prstGeom prst="line">
            <a:avLst/>
          </a:prstGeom>
          <a:noFill/>
          <a:ln w="9525">
            <a:solidFill>
              <a:srgbClr val="E3DCCF"/>
            </a:solidFill>
            <a:prstDash val="solid"/>
          </a:ln>
        </p:spPr>
      </p:sp>
      <p:sp>
        <p:nvSpPr>
          <p:cNvPr id="23" name="Text 21"/>
          <p:cNvSpPr txBox="1"/>
          <p:nvPr/>
        </p:nvSpPr>
        <p:spPr>
          <a:xfrm>
            <a:off x="6382512" y="5074920"/>
            <a:ext cx="5029200" cy="201168"/>
          </a:xfrm>
          <a:prstGeom prst="rect">
            <a:avLst/>
          </a:prstGeom>
          <a:noFill/>
          <a:ln/>
        </p:spPr>
        <p:txBody>
          <a:bodyPr wrap="square" lIns="0" tIns="0" rIns="0" bIns="0" rtlCol="0" anchor="ctr"/>
          <a:lstStyle/>
          <a:p>
            <a:pPr indent="0" marL="0">
              <a:buNone/>
            </a:pPr>
            <a:r>
              <a:rPr lang="en-US" sz="900" b="1" spc="120" kern="0" dirty="0">
                <a:solidFill>
                  <a:srgbClr val="6B7275"/>
                </a:solidFill>
                <a:latin typeface="Noto Sans" pitchFamily="34" charset="0"/>
                <a:ea typeface="Noto Sans" pitchFamily="34" charset="-122"/>
                <a:cs typeface="Noto Sans" pitchFamily="34" charset="-120"/>
              </a:rPr>
              <a:t>WHO IS SUPPORTING ME</a:t>
            </a:r>
            <a:endParaRPr lang="en-US" sz="900" dirty="0"/>
          </a:p>
        </p:txBody>
      </p:sp>
      <p:sp>
        <p:nvSpPr>
          <p:cNvPr id="24" name="Shape 22"/>
          <p:cNvSpPr/>
          <p:nvPr/>
        </p:nvSpPr>
        <p:spPr>
          <a:xfrm>
            <a:off x="6382512" y="5641848"/>
            <a:ext cx="5029200" cy="0"/>
          </a:xfrm>
          <a:prstGeom prst="line">
            <a:avLst/>
          </a:prstGeom>
          <a:noFill/>
          <a:ln w="9525">
            <a:solidFill>
              <a:srgbClr val="E3DCCF"/>
            </a:solidFill>
            <a:prstDash val="solid"/>
          </a:ln>
        </p:spPr>
      </p:sp>
      <p:sp>
        <p:nvSpPr>
          <p:cNvPr id="25" name="Shape 23"/>
          <p:cNvSpPr/>
          <p:nvPr/>
        </p:nvSpPr>
        <p:spPr>
          <a:xfrm>
            <a:off x="6382512" y="5971032"/>
            <a:ext cx="5029200" cy="0"/>
          </a:xfrm>
          <a:prstGeom prst="line">
            <a:avLst/>
          </a:prstGeom>
          <a:noFill/>
          <a:ln w="9525">
            <a:solidFill>
              <a:srgbClr val="E3DCCF"/>
            </a:solidFill>
            <a:prstDash val="solid"/>
          </a:ln>
        </p:spPr>
      </p:sp>
      <p:sp>
        <p:nvSpPr>
          <p:cNvPr id="26" name="Text 24"/>
          <p:cNvSpPr txBox="1"/>
          <p:nvPr/>
        </p:nvSpPr>
        <p:spPr>
          <a:xfrm>
            <a:off x="777240" y="6355080"/>
            <a:ext cx="5486400" cy="228600"/>
          </a:xfrm>
          <a:prstGeom prst="rect">
            <a:avLst/>
          </a:prstGeom>
          <a:noFill/>
          <a:ln/>
        </p:spPr>
        <p:txBody>
          <a:bodyPr wrap="square" lIns="0" tIns="0" rIns="0" bIns="0" rtlCol="0" anchor="ctr"/>
          <a:lstStyle/>
          <a:p>
            <a:pPr indent="0" marL="0">
              <a:buNone/>
            </a:pPr>
            <a:r>
              <a:rPr lang="en-US" sz="900" dirty="0">
                <a:solidFill>
                  <a:srgbClr val="D9CBB2"/>
                </a:solidFill>
                <a:latin typeface="Noto Sans" pitchFamily="34" charset="0"/>
                <a:ea typeface="Noto Sans" pitchFamily="34" charset="-122"/>
                <a:cs typeface="Noto Sans" pitchFamily="34" charset="-120"/>
              </a:rPr>
              <a:t>CARE 360 Leadership Action Plan</a:t>
            </a:r>
            <a:endParaRPr lang="en-US" sz="900" dirty="0"/>
          </a:p>
        </p:txBody>
      </p:sp>
      <p:sp>
        <p:nvSpPr>
          <p:cNvPr id="27" name="Text 25"/>
          <p:cNvSpPr txBox="1"/>
          <p:nvPr/>
        </p:nvSpPr>
        <p:spPr>
          <a:xfrm>
            <a:off x="7754112" y="6355080"/>
            <a:ext cx="3657600" cy="228600"/>
          </a:xfrm>
          <a:prstGeom prst="rect">
            <a:avLst/>
          </a:prstGeom>
          <a:noFill/>
          <a:ln/>
        </p:spPr>
        <p:txBody>
          <a:bodyPr wrap="square" lIns="0" tIns="0" rIns="0" bIns="0" rtlCol="0" anchor="ctr"/>
          <a:lstStyle/>
          <a:p>
            <a:pPr algn="r" indent="0" marL="0">
              <a:buNone/>
            </a:pPr>
            <a:r>
              <a:rPr lang="en-US" sz="900" dirty="0">
                <a:solidFill>
                  <a:srgbClr val="D9CBB2"/>
                </a:solidFill>
                <a:latin typeface="Noto Sans" pitchFamily="34" charset="0"/>
                <a:ea typeface="Noto Sans" pitchFamily="34" charset="-122"/>
                <a:cs typeface="Noto Sans" pitchFamily="34" charset="-120"/>
              </a:rPr>
              <a:t>Priority Two</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7240" y="658368"/>
            <a:ext cx="420624" cy="420624"/>
          </a:xfrm>
          <a:prstGeom prst="ellipse">
            <a:avLst/>
          </a:prstGeom>
          <a:solidFill>
            <a:srgbClr val="C08A3E"/>
          </a:solidFill>
          <a:ln w="12700">
            <a:solidFill>
              <a:srgbClr val="C08A3E"/>
            </a:solidFill>
            <a:prstDash val="solid"/>
          </a:ln>
        </p:spPr>
      </p:sp>
      <p:sp>
        <p:nvSpPr>
          <p:cNvPr id="3" name="Text 1"/>
          <p:cNvSpPr txBox="1"/>
          <p:nvPr/>
        </p:nvSpPr>
        <p:spPr>
          <a:xfrm>
            <a:off x="777240" y="722376"/>
            <a:ext cx="420624"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pitchFamily="34" charset="0"/>
                <a:ea typeface="Noto Sans" pitchFamily="34" charset="-122"/>
                <a:cs typeface="Noto Sans" pitchFamily="34" charset="-120"/>
              </a:rPr>
              <a:t>3</a:t>
            </a:r>
            <a:endParaRPr lang="en-US" sz="1300" dirty="0"/>
          </a:p>
        </p:txBody>
      </p:sp>
      <p:sp>
        <p:nvSpPr>
          <p:cNvPr id="4" name="Text 2"/>
          <p:cNvSpPr txBox="1"/>
          <p:nvPr/>
        </p:nvSpPr>
        <p:spPr>
          <a:xfrm>
            <a:off x="1435608" y="713232"/>
            <a:ext cx="5486400" cy="228600"/>
          </a:xfrm>
          <a:prstGeom prst="rect">
            <a:avLst/>
          </a:prstGeom>
          <a:noFill/>
          <a:ln/>
        </p:spPr>
        <p:txBody>
          <a:bodyPr wrap="square" lIns="0" tIns="0" rIns="0" bIns="0" rtlCol="0" anchor="ctr"/>
          <a:lstStyle/>
          <a:p>
            <a:pPr indent="0" marL="0">
              <a:buNone/>
            </a:pPr>
            <a:r>
              <a:rPr lang="en-US" sz="1000" b="1" spc="200" kern="0" dirty="0">
                <a:solidFill>
                  <a:srgbClr val="C08A3E"/>
                </a:solidFill>
                <a:latin typeface="Noto Sans" pitchFamily="34" charset="0"/>
                <a:ea typeface="Noto Sans" pitchFamily="34" charset="-122"/>
                <a:cs typeface="Noto Sans" pitchFamily="34" charset="-120"/>
              </a:rPr>
              <a:t>PRIORITY THREE</a:t>
            </a:r>
            <a:endParaRPr lang="en-US" sz="1000" dirty="0"/>
          </a:p>
        </p:txBody>
      </p:sp>
      <p:sp>
        <p:nvSpPr>
          <p:cNvPr id="5" name="Text 3"/>
          <p:cNvSpPr txBox="1"/>
          <p:nvPr/>
        </p:nvSpPr>
        <p:spPr>
          <a:xfrm>
            <a:off x="1435608" y="987552"/>
            <a:ext cx="7315200" cy="457200"/>
          </a:xfrm>
          <a:prstGeom prst="rect">
            <a:avLst/>
          </a:prstGeom>
          <a:noFill/>
          <a:ln/>
        </p:spPr>
        <p:txBody>
          <a:bodyPr wrap="square" lIns="0" tIns="0" rIns="0" bIns="0" rtlCol="0" anchor="ctr"/>
          <a:lstStyle/>
          <a:p>
            <a:pPr indent="0" marL="0">
              <a:buNone/>
            </a:pPr>
            <a:r>
              <a:rPr lang="en-US" sz="3000" b="1" dirty="0">
                <a:solidFill>
                  <a:srgbClr val="30383B"/>
                </a:solidFill>
                <a:latin typeface="EB Garamond" pitchFamily="34" charset="0"/>
                <a:ea typeface="EB Garamond" pitchFamily="34" charset="-122"/>
                <a:cs typeface="EB Garamond" pitchFamily="34" charset="-120"/>
              </a:rPr>
              <a:t>What I am working on</a:t>
            </a:r>
            <a:endParaRPr lang="en-US" sz="3000" dirty="0"/>
          </a:p>
        </p:txBody>
      </p:sp>
      <p:sp>
        <p:nvSpPr>
          <p:cNvPr id="6" name="Text 4"/>
          <p:cNvSpPr txBox="1"/>
          <p:nvPr/>
        </p:nvSpPr>
        <p:spPr>
          <a:xfrm>
            <a:off x="8302752" y="713232"/>
            <a:ext cx="3108960" cy="201168"/>
          </a:xfrm>
          <a:prstGeom prst="rect">
            <a:avLst/>
          </a:prstGeom>
          <a:noFill/>
          <a:ln/>
        </p:spPr>
        <p:txBody>
          <a:bodyPr wrap="square" lIns="0" tIns="0" rIns="0" bIns="0" rtlCol="0" anchor="ctr"/>
          <a:lstStyle/>
          <a:p>
            <a:pPr algn="r" indent="0" marL="0">
              <a:buNone/>
            </a:pPr>
            <a:r>
              <a:rPr lang="en-US" sz="900" b="1" spc="120" kern="0" dirty="0">
                <a:solidFill>
                  <a:srgbClr val="6B7275"/>
                </a:solidFill>
                <a:latin typeface="Noto Sans" pitchFamily="34" charset="0"/>
                <a:ea typeface="Noto Sans" pitchFamily="34" charset="-122"/>
                <a:cs typeface="Noto Sans" pitchFamily="34" charset="-120"/>
              </a:rPr>
              <a:t>CARE DIMENSION</a:t>
            </a:r>
            <a:endParaRPr lang="en-US" sz="900" dirty="0"/>
          </a:p>
        </p:txBody>
      </p:sp>
      <p:sp>
        <p:nvSpPr>
          <p:cNvPr id="7" name="Shape 5"/>
          <p:cNvSpPr/>
          <p:nvPr/>
        </p:nvSpPr>
        <p:spPr>
          <a:xfrm>
            <a:off x="8302752" y="1207008"/>
            <a:ext cx="3108960" cy="0"/>
          </a:xfrm>
          <a:prstGeom prst="line">
            <a:avLst/>
          </a:prstGeom>
          <a:noFill/>
          <a:ln w="9525">
            <a:solidFill>
              <a:srgbClr val="E3DCCF"/>
            </a:solidFill>
            <a:prstDash val="solid"/>
          </a:ln>
        </p:spPr>
      </p:sp>
      <p:sp>
        <p:nvSpPr>
          <p:cNvPr id="8" name="Shape 6"/>
          <p:cNvSpPr/>
          <p:nvPr/>
        </p:nvSpPr>
        <p:spPr>
          <a:xfrm>
            <a:off x="777240" y="1783080"/>
            <a:ext cx="10607040" cy="1051560"/>
          </a:xfrm>
          <a:prstGeom prst="roundRect">
            <a:avLst>
              <a:gd name="adj" fmla="val 3478"/>
            </a:avLst>
          </a:prstGeom>
          <a:solidFill>
            <a:srgbClr val="F7F3EA"/>
          </a:solidFill>
          <a:ln w="12700">
            <a:solidFill>
              <a:srgbClr val="F7F3EA"/>
            </a:solidFill>
            <a:prstDash val="solid"/>
          </a:ln>
        </p:spPr>
      </p:sp>
      <p:sp>
        <p:nvSpPr>
          <p:cNvPr id="9" name="Text 7"/>
          <p:cNvSpPr txBox="1"/>
          <p:nvPr/>
        </p:nvSpPr>
        <p:spPr>
          <a:xfrm>
            <a:off x="1033272" y="1938528"/>
            <a:ext cx="5486400" cy="201168"/>
          </a:xfrm>
          <a:prstGeom prst="rect">
            <a:avLst/>
          </a:prstGeom>
          <a:noFill/>
          <a:ln/>
        </p:spPr>
        <p:txBody>
          <a:bodyPr wrap="square" lIns="0" tIns="0" rIns="0" bIns="0" rtlCol="0" anchor="ctr"/>
          <a:lstStyle/>
          <a:p>
            <a:pPr indent="0" marL="0">
              <a:buNone/>
            </a:pPr>
            <a:r>
              <a:rPr lang="en-US" sz="900" b="1" spc="120" kern="0" dirty="0">
                <a:solidFill>
                  <a:srgbClr val="6B7275"/>
                </a:solidFill>
                <a:latin typeface="Noto Sans" pitchFamily="34" charset="0"/>
                <a:ea typeface="Noto Sans" pitchFamily="34" charset="-122"/>
                <a:cs typeface="Noto Sans" pitchFamily="34" charset="-120"/>
              </a:rPr>
              <a:t>THE PRIORITY</a:t>
            </a:r>
            <a:endParaRPr lang="en-US" sz="900" dirty="0"/>
          </a:p>
        </p:txBody>
      </p:sp>
      <p:sp>
        <p:nvSpPr>
          <p:cNvPr id="10" name="Text 8"/>
          <p:cNvSpPr txBox="1"/>
          <p:nvPr/>
        </p:nvSpPr>
        <p:spPr>
          <a:xfrm>
            <a:off x="2971800" y="1938528"/>
            <a:ext cx="5486400" cy="201168"/>
          </a:xfrm>
          <a:prstGeom prst="rect">
            <a:avLst/>
          </a:prstGeom>
          <a:noFill/>
          <a:ln/>
        </p:spPr>
        <p:txBody>
          <a:bodyPr wrap="square" lIns="0" tIns="0" rIns="0" bIns="0" rtlCol="0" anchor="ctr"/>
          <a:lstStyle/>
          <a:p>
            <a:pPr indent="0" marL="0">
              <a:buNone/>
            </a:pPr>
            <a:r>
              <a:rPr lang="en-US" sz="900" i="1" dirty="0">
                <a:solidFill>
                  <a:srgbClr val="A2A8AB"/>
                </a:solidFill>
                <a:latin typeface="Noto Sans" pitchFamily="34" charset="0"/>
                <a:ea typeface="Noto Sans" pitchFamily="34" charset="-122"/>
                <a:cs typeface="Noto Sans" pitchFamily="34" charset="-120"/>
              </a:rPr>
              <a:t>Write it as a behaviour someone else could observe.</a:t>
            </a:r>
            <a:endParaRPr lang="en-US" sz="900" dirty="0"/>
          </a:p>
        </p:txBody>
      </p:sp>
      <p:sp>
        <p:nvSpPr>
          <p:cNvPr id="11" name="Shape 9"/>
          <p:cNvSpPr/>
          <p:nvPr/>
        </p:nvSpPr>
        <p:spPr>
          <a:xfrm>
            <a:off x="1033272" y="2578608"/>
            <a:ext cx="10104120" cy="0"/>
          </a:xfrm>
          <a:prstGeom prst="line">
            <a:avLst/>
          </a:prstGeom>
          <a:noFill/>
          <a:ln w="9525">
            <a:solidFill>
              <a:srgbClr val="D9CBB2"/>
            </a:solidFill>
            <a:prstDash val="solid"/>
          </a:ln>
        </p:spPr>
      </p:sp>
      <p:sp>
        <p:nvSpPr>
          <p:cNvPr id="12" name="Text 10"/>
          <p:cNvSpPr txBox="1"/>
          <p:nvPr/>
        </p:nvSpPr>
        <p:spPr>
          <a:xfrm>
            <a:off x="777240" y="3063240"/>
            <a:ext cx="5029200" cy="201168"/>
          </a:xfrm>
          <a:prstGeom prst="rect">
            <a:avLst/>
          </a:prstGeom>
          <a:noFill/>
          <a:ln/>
        </p:spPr>
        <p:txBody>
          <a:bodyPr wrap="square" lIns="0" tIns="0" rIns="0" bIns="0" rtlCol="0" anchor="ctr"/>
          <a:lstStyle/>
          <a:p>
            <a:pPr indent="0" marL="0">
              <a:buNone/>
            </a:pPr>
            <a:r>
              <a:rPr lang="en-US" sz="900" b="1" spc="120" kern="0" dirty="0">
                <a:solidFill>
                  <a:srgbClr val="6B7275"/>
                </a:solidFill>
                <a:latin typeface="Noto Sans" pitchFamily="34" charset="0"/>
                <a:ea typeface="Noto Sans" pitchFamily="34" charset="-122"/>
                <a:cs typeface="Noto Sans" pitchFamily="34" charset="-120"/>
              </a:rPr>
              <a:t>WHY THIS MATTERS, BASED ON MY FEEDBACK</a:t>
            </a:r>
            <a:endParaRPr lang="en-US" sz="900" dirty="0"/>
          </a:p>
        </p:txBody>
      </p:sp>
      <p:sp>
        <p:nvSpPr>
          <p:cNvPr id="13" name="Shape 11"/>
          <p:cNvSpPr/>
          <p:nvPr/>
        </p:nvSpPr>
        <p:spPr>
          <a:xfrm>
            <a:off x="777240" y="3630168"/>
            <a:ext cx="5029200" cy="0"/>
          </a:xfrm>
          <a:prstGeom prst="line">
            <a:avLst/>
          </a:prstGeom>
          <a:noFill/>
          <a:ln w="9525">
            <a:solidFill>
              <a:srgbClr val="E3DCCF"/>
            </a:solidFill>
            <a:prstDash val="solid"/>
          </a:ln>
        </p:spPr>
      </p:sp>
      <p:sp>
        <p:nvSpPr>
          <p:cNvPr id="14" name="Shape 12"/>
          <p:cNvSpPr/>
          <p:nvPr/>
        </p:nvSpPr>
        <p:spPr>
          <a:xfrm>
            <a:off x="777240" y="3959352"/>
            <a:ext cx="5029200" cy="0"/>
          </a:xfrm>
          <a:prstGeom prst="line">
            <a:avLst/>
          </a:prstGeom>
          <a:noFill/>
          <a:ln w="9525">
            <a:solidFill>
              <a:srgbClr val="E3DCCF"/>
            </a:solidFill>
            <a:prstDash val="solid"/>
          </a:ln>
        </p:spPr>
      </p:sp>
      <p:sp>
        <p:nvSpPr>
          <p:cNvPr id="15" name="Shape 13"/>
          <p:cNvSpPr/>
          <p:nvPr/>
        </p:nvSpPr>
        <p:spPr>
          <a:xfrm>
            <a:off x="777240" y="4288536"/>
            <a:ext cx="5029200" cy="0"/>
          </a:xfrm>
          <a:prstGeom prst="line">
            <a:avLst/>
          </a:prstGeom>
          <a:noFill/>
          <a:ln w="9525">
            <a:solidFill>
              <a:srgbClr val="E3DCCF"/>
            </a:solidFill>
            <a:prstDash val="solid"/>
          </a:ln>
        </p:spPr>
      </p:sp>
      <p:sp>
        <p:nvSpPr>
          <p:cNvPr id="16" name="Text 14"/>
          <p:cNvSpPr txBox="1"/>
          <p:nvPr/>
        </p:nvSpPr>
        <p:spPr>
          <a:xfrm>
            <a:off x="6382512" y="3063240"/>
            <a:ext cx="5029200" cy="201168"/>
          </a:xfrm>
          <a:prstGeom prst="rect">
            <a:avLst/>
          </a:prstGeom>
          <a:noFill/>
          <a:ln/>
        </p:spPr>
        <p:txBody>
          <a:bodyPr wrap="square" lIns="0" tIns="0" rIns="0" bIns="0" rtlCol="0" anchor="ctr"/>
          <a:lstStyle/>
          <a:p>
            <a:pPr indent="0" marL="0">
              <a:buNone/>
            </a:pPr>
            <a:r>
              <a:rPr lang="en-US" sz="900" b="1" spc="120" kern="0" dirty="0">
                <a:solidFill>
                  <a:srgbClr val="6B7275"/>
                </a:solidFill>
                <a:latin typeface="Noto Sans" pitchFamily="34" charset="0"/>
                <a:ea typeface="Noto Sans" pitchFamily="34" charset="-122"/>
                <a:cs typeface="Noto Sans" pitchFamily="34" charset="-120"/>
              </a:rPr>
              <a:t>WHAT I WILL ACTUALLY DO</a:t>
            </a:r>
            <a:endParaRPr lang="en-US" sz="900" dirty="0"/>
          </a:p>
        </p:txBody>
      </p:sp>
      <p:sp>
        <p:nvSpPr>
          <p:cNvPr id="17" name="Shape 15"/>
          <p:cNvSpPr/>
          <p:nvPr/>
        </p:nvSpPr>
        <p:spPr>
          <a:xfrm>
            <a:off x="6382512" y="3630168"/>
            <a:ext cx="5029200" cy="0"/>
          </a:xfrm>
          <a:prstGeom prst="line">
            <a:avLst/>
          </a:prstGeom>
          <a:noFill/>
          <a:ln w="9525">
            <a:solidFill>
              <a:srgbClr val="E3DCCF"/>
            </a:solidFill>
            <a:prstDash val="solid"/>
          </a:ln>
        </p:spPr>
      </p:sp>
      <p:sp>
        <p:nvSpPr>
          <p:cNvPr id="18" name="Shape 16"/>
          <p:cNvSpPr/>
          <p:nvPr/>
        </p:nvSpPr>
        <p:spPr>
          <a:xfrm>
            <a:off x="6382512" y="3959352"/>
            <a:ext cx="5029200" cy="0"/>
          </a:xfrm>
          <a:prstGeom prst="line">
            <a:avLst/>
          </a:prstGeom>
          <a:noFill/>
          <a:ln w="9525">
            <a:solidFill>
              <a:srgbClr val="E3DCCF"/>
            </a:solidFill>
            <a:prstDash val="solid"/>
          </a:ln>
        </p:spPr>
      </p:sp>
      <p:sp>
        <p:nvSpPr>
          <p:cNvPr id="19" name="Shape 17"/>
          <p:cNvSpPr/>
          <p:nvPr/>
        </p:nvSpPr>
        <p:spPr>
          <a:xfrm>
            <a:off x="6382512" y="4288536"/>
            <a:ext cx="5029200" cy="0"/>
          </a:xfrm>
          <a:prstGeom prst="line">
            <a:avLst/>
          </a:prstGeom>
          <a:noFill/>
          <a:ln w="9525">
            <a:solidFill>
              <a:srgbClr val="E3DCCF"/>
            </a:solidFill>
            <a:prstDash val="solid"/>
          </a:ln>
        </p:spPr>
      </p:sp>
      <p:sp>
        <p:nvSpPr>
          <p:cNvPr id="20" name="Text 18"/>
          <p:cNvSpPr txBox="1"/>
          <p:nvPr/>
        </p:nvSpPr>
        <p:spPr>
          <a:xfrm>
            <a:off x="777240" y="5074920"/>
            <a:ext cx="5029200" cy="201168"/>
          </a:xfrm>
          <a:prstGeom prst="rect">
            <a:avLst/>
          </a:prstGeom>
          <a:noFill/>
          <a:ln/>
        </p:spPr>
        <p:txBody>
          <a:bodyPr wrap="square" lIns="0" tIns="0" rIns="0" bIns="0" rtlCol="0" anchor="ctr"/>
          <a:lstStyle/>
          <a:p>
            <a:pPr indent="0" marL="0">
              <a:buNone/>
            </a:pPr>
            <a:r>
              <a:rPr lang="en-US" sz="900" b="1" spc="120" kern="0" dirty="0">
                <a:solidFill>
                  <a:srgbClr val="6B7275"/>
                </a:solidFill>
                <a:latin typeface="Noto Sans" pitchFamily="34" charset="0"/>
                <a:ea typeface="Noto Sans" pitchFamily="34" charset="-122"/>
                <a:cs typeface="Noto Sans" pitchFamily="34" charset="-120"/>
              </a:rPr>
              <a:t>HOW I WILL KNOW IT IS WORKING</a:t>
            </a:r>
            <a:endParaRPr lang="en-US" sz="900" dirty="0"/>
          </a:p>
        </p:txBody>
      </p:sp>
      <p:sp>
        <p:nvSpPr>
          <p:cNvPr id="21" name="Shape 19"/>
          <p:cNvSpPr/>
          <p:nvPr/>
        </p:nvSpPr>
        <p:spPr>
          <a:xfrm>
            <a:off x="777240" y="5641848"/>
            <a:ext cx="5029200" cy="0"/>
          </a:xfrm>
          <a:prstGeom prst="line">
            <a:avLst/>
          </a:prstGeom>
          <a:noFill/>
          <a:ln w="9525">
            <a:solidFill>
              <a:srgbClr val="E3DCCF"/>
            </a:solidFill>
            <a:prstDash val="solid"/>
          </a:ln>
        </p:spPr>
      </p:sp>
      <p:sp>
        <p:nvSpPr>
          <p:cNvPr id="22" name="Shape 20"/>
          <p:cNvSpPr/>
          <p:nvPr/>
        </p:nvSpPr>
        <p:spPr>
          <a:xfrm>
            <a:off x="777240" y="5971032"/>
            <a:ext cx="5029200" cy="0"/>
          </a:xfrm>
          <a:prstGeom prst="line">
            <a:avLst/>
          </a:prstGeom>
          <a:noFill/>
          <a:ln w="9525">
            <a:solidFill>
              <a:srgbClr val="E3DCCF"/>
            </a:solidFill>
            <a:prstDash val="solid"/>
          </a:ln>
        </p:spPr>
      </p:sp>
      <p:sp>
        <p:nvSpPr>
          <p:cNvPr id="23" name="Text 21"/>
          <p:cNvSpPr txBox="1"/>
          <p:nvPr/>
        </p:nvSpPr>
        <p:spPr>
          <a:xfrm>
            <a:off x="6382512" y="5074920"/>
            <a:ext cx="5029200" cy="201168"/>
          </a:xfrm>
          <a:prstGeom prst="rect">
            <a:avLst/>
          </a:prstGeom>
          <a:noFill/>
          <a:ln/>
        </p:spPr>
        <p:txBody>
          <a:bodyPr wrap="square" lIns="0" tIns="0" rIns="0" bIns="0" rtlCol="0" anchor="ctr"/>
          <a:lstStyle/>
          <a:p>
            <a:pPr indent="0" marL="0">
              <a:buNone/>
            </a:pPr>
            <a:r>
              <a:rPr lang="en-US" sz="900" b="1" spc="120" kern="0" dirty="0">
                <a:solidFill>
                  <a:srgbClr val="6B7275"/>
                </a:solidFill>
                <a:latin typeface="Noto Sans" pitchFamily="34" charset="0"/>
                <a:ea typeface="Noto Sans" pitchFamily="34" charset="-122"/>
                <a:cs typeface="Noto Sans" pitchFamily="34" charset="-120"/>
              </a:rPr>
              <a:t>WHO IS SUPPORTING ME</a:t>
            </a:r>
            <a:endParaRPr lang="en-US" sz="900" dirty="0"/>
          </a:p>
        </p:txBody>
      </p:sp>
      <p:sp>
        <p:nvSpPr>
          <p:cNvPr id="24" name="Shape 22"/>
          <p:cNvSpPr/>
          <p:nvPr/>
        </p:nvSpPr>
        <p:spPr>
          <a:xfrm>
            <a:off x="6382512" y="5641848"/>
            <a:ext cx="5029200" cy="0"/>
          </a:xfrm>
          <a:prstGeom prst="line">
            <a:avLst/>
          </a:prstGeom>
          <a:noFill/>
          <a:ln w="9525">
            <a:solidFill>
              <a:srgbClr val="E3DCCF"/>
            </a:solidFill>
            <a:prstDash val="solid"/>
          </a:ln>
        </p:spPr>
      </p:sp>
      <p:sp>
        <p:nvSpPr>
          <p:cNvPr id="25" name="Shape 23"/>
          <p:cNvSpPr/>
          <p:nvPr/>
        </p:nvSpPr>
        <p:spPr>
          <a:xfrm>
            <a:off x="6382512" y="5971032"/>
            <a:ext cx="5029200" cy="0"/>
          </a:xfrm>
          <a:prstGeom prst="line">
            <a:avLst/>
          </a:prstGeom>
          <a:noFill/>
          <a:ln w="9525">
            <a:solidFill>
              <a:srgbClr val="E3DCCF"/>
            </a:solidFill>
            <a:prstDash val="solid"/>
          </a:ln>
        </p:spPr>
      </p:sp>
      <p:sp>
        <p:nvSpPr>
          <p:cNvPr id="26" name="Text 24"/>
          <p:cNvSpPr txBox="1"/>
          <p:nvPr/>
        </p:nvSpPr>
        <p:spPr>
          <a:xfrm>
            <a:off x="777240" y="6355080"/>
            <a:ext cx="5486400" cy="228600"/>
          </a:xfrm>
          <a:prstGeom prst="rect">
            <a:avLst/>
          </a:prstGeom>
          <a:noFill/>
          <a:ln/>
        </p:spPr>
        <p:txBody>
          <a:bodyPr wrap="square" lIns="0" tIns="0" rIns="0" bIns="0" rtlCol="0" anchor="ctr"/>
          <a:lstStyle/>
          <a:p>
            <a:pPr indent="0" marL="0">
              <a:buNone/>
            </a:pPr>
            <a:r>
              <a:rPr lang="en-US" sz="900" dirty="0">
                <a:solidFill>
                  <a:srgbClr val="D9CBB2"/>
                </a:solidFill>
                <a:latin typeface="Noto Sans" pitchFamily="34" charset="0"/>
                <a:ea typeface="Noto Sans" pitchFamily="34" charset="-122"/>
                <a:cs typeface="Noto Sans" pitchFamily="34" charset="-120"/>
              </a:rPr>
              <a:t>CARE 360 Leadership Action Plan</a:t>
            </a:r>
            <a:endParaRPr lang="en-US" sz="900" dirty="0"/>
          </a:p>
        </p:txBody>
      </p:sp>
      <p:sp>
        <p:nvSpPr>
          <p:cNvPr id="27" name="Text 25"/>
          <p:cNvSpPr txBox="1"/>
          <p:nvPr/>
        </p:nvSpPr>
        <p:spPr>
          <a:xfrm>
            <a:off x="7754112" y="6355080"/>
            <a:ext cx="3657600" cy="228600"/>
          </a:xfrm>
          <a:prstGeom prst="rect">
            <a:avLst/>
          </a:prstGeom>
          <a:noFill/>
          <a:ln/>
        </p:spPr>
        <p:txBody>
          <a:bodyPr wrap="square" lIns="0" tIns="0" rIns="0" bIns="0" rtlCol="0" anchor="ctr"/>
          <a:lstStyle/>
          <a:p>
            <a:pPr algn="r" indent="0" marL="0">
              <a:buNone/>
            </a:pPr>
            <a:r>
              <a:rPr lang="en-US" sz="900" dirty="0">
                <a:solidFill>
                  <a:srgbClr val="D9CBB2"/>
                </a:solidFill>
                <a:latin typeface="Noto Sans" pitchFamily="34" charset="0"/>
                <a:ea typeface="Noto Sans" pitchFamily="34" charset="-122"/>
                <a:cs typeface="Noto Sans" pitchFamily="34" charset="-120"/>
              </a:rPr>
              <a:t>Priority Three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685800"/>
            <a:ext cx="7315200" cy="228600"/>
          </a:xfrm>
          <a:prstGeom prst="rect">
            <a:avLst/>
          </a:prstGeom>
          <a:noFill/>
          <a:ln/>
        </p:spPr>
        <p:txBody>
          <a:bodyPr wrap="square" lIns="0" tIns="0" rIns="0" bIns="0" rtlCol="0" anchor="ctr"/>
          <a:lstStyle/>
          <a:p>
            <a:pPr indent="0" marL="0">
              <a:buNone/>
            </a:pPr>
            <a:r>
              <a:rPr lang="en-US" sz="1000" b="1" spc="200" kern="0" dirty="0">
                <a:solidFill>
                  <a:srgbClr val="A9633D"/>
                </a:solidFill>
                <a:latin typeface="Noto Sans" pitchFamily="34" charset="0"/>
                <a:ea typeface="Noto Sans" pitchFamily="34" charset="-122"/>
                <a:cs typeface="Noto Sans" pitchFamily="34" charset="-120"/>
              </a:rPr>
              <a:t>STEP THREE</a:t>
            </a:r>
            <a:endParaRPr lang="en-US" sz="1000" dirty="0"/>
          </a:p>
        </p:txBody>
      </p:sp>
      <p:sp>
        <p:nvSpPr>
          <p:cNvPr id="3" name="Text 1"/>
          <p:cNvSpPr txBox="1"/>
          <p:nvPr/>
        </p:nvSpPr>
        <p:spPr>
          <a:xfrm>
            <a:off x="777240" y="960120"/>
            <a:ext cx="10058400" cy="548640"/>
          </a:xfrm>
          <a:prstGeom prst="rect">
            <a:avLst/>
          </a:prstGeom>
          <a:noFill/>
          <a:ln/>
        </p:spPr>
        <p:txBody>
          <a:bodyPr wrap="square" lIns="0" tIns="0" rIns="0" bIns="0" rtlCol="0" anchor="ctr"/>
          <a:lstStyle/>
          <a:p>
            <a:pPr indent="0" marL="0">
              <a:buNone/>
            </a:pPr>
            <a:r>
              <a:rPr lang="en-US" sz="3400" b="1" dirty="0">
                <a:solidFill>
                  <a:srgbClr val="30383B"/>
                </a:solidFill>
                <a:latin typeface="EB Garamond" pitchFamily="34" charset="0"/>
                <a:ea typeface="EB Garamond" pitchFamily="34" charset="-122"/>
                <a:cs typeface="EB Garamond" pitchFamily="34" charset="-120"/>
              </a:rPr>
              <a:t>Keeping it alive</a:t>
            </a:r>
            <a:endParaRPr lang="en-US" sz="3400" dirty="0"/>
          </a:p>
        </p:txBody>
      </p:sp>
      <p:sp>
        <p:nvSpPr>
          <p:cNvPr id="4" name="Text 2"/>
          <p:cNvSpPr txBox="1"/>
          <p:nvPr/>
        </p:nvSpPr>
        <p:spPr>
          <a:xfrm>
            <a:off x="777240" y="1664208"/>
            <a:ext cx="10241280" cy="274320"/>
          </a:xfrm>
          <a:prstGeom prst="rect">
            <a:avLst/>
          </a:prstGeom>
          <a:noFill/>
          <a:ln/>
        </p:spPr>
        <p:txBody>
          <a:bodyPr wrap="square" lIns="0" tIns="0" rIns="0" bIns="0" rtlCol="0" anchor="ctr"/>
          <a:lstStyle/>
          <a:p>
            <a:pPr indent="0" marL="0">
              <a:buNone/>
            </a:pPr>
            <a:r>
              <a:rPr lang="en-US" sz="1250" dirty="0">
                <a:solidFill>
                  <a:srgbClr val="6B7275"/>
                </a:solidFill>
                <a:latin typeface="Noto Sans" pitchFamily="34" charset="0"/>
                <a:ea typeface="Noto Sans" pitchFamily="34" charset="-122"/>
                <a:cs typeface="Noto Sans" pitchFamily="34" charset="-120"/>
              </a:rPr>
              <a:t>Set the dates now, while the intent is fresh. A plan without a review date is a plan that quietly expires.</a:t>
            </a:r>
            <a:endParaRPr lang="en-US" sz="1250" dirty="0"/>
          </a:p>
        </p:txBody>
      </p:sp>
      <p:sp>
        <p:nvSpPr>
          <p:cNvPr id="5" name="Shape 3"/>
          <p:cNvSpPr/>
          <p:nvPr/>
        </p:nvSpPr>
        <p:spPr>
          <a:xfrm>
            <a:off x="777240" y="2286000"/>
            <a:ext cx="3291840" cy="1737360"/>
          </a:xfrm>
          <a:prstGeom prst="roundRect">
            <a:avLst>
              <a:gd name="adj" fmla="val 2105"/>
            </a:avLst>
          </a:prstGeom>
          <a:solidFill>
            <a:srgbClr val="F7F3EA"/>
          </a:solidFill>
          <a:ln w="12700">
            <a:solidFill>
              <a:srgbClr val="F7F3EA"/>
            </a:solidFill>
            <a:prstDash val="solid"/>
          </a:ln>
        </p:spPr>
      </p:sp>
      <p:sp>
        <p:nvSpPr>
          <p:cNvPr id="6" name="Text 4"/>
          <p:cNvSpPr txBox="1"/>
          <p:nvPr/>
        </p:nvSpPr>
        <p:spPr>
          <a:xfrm>
            <a:off x="1051560" y="2514600"/>
            <a:ext cx="2743200" cy="411480"/>
          </a:xfrm>
          <a:prstGeom prst="rect">
            <a:avLst/>
          </a:prstGeom>
          <a:noFill/>
          <a:ln/>
        </p:spPr>
        <p:txBody>
          <a:bodyPr wrap="square" lIns="0" tIns="0" rIns="0" bIns="0" rtlCol="0" anchor="ctr"/>
          <a:lstStyle/>
          <a:p>
            <a:pPr indent="0" marL="0">
              <a:buNone/>
            </a:pPr>
            <a:r>
              <a:rPr lang="en-US" sz="2600" b="1" dirty="0">
                <a:solidFill>
                  <a:srgbClr val="A9633D"/>
                </a:solidFill>
                <a:latin typeface="EB Garamond" pitchFamily="34" charset="0"/>
                <a:ea typeface="EB Garamond" pitchFamily="34" charset="-122"/>
                <a:cs typeface="EB Garamond" pitchFamily="34" charset="-120"/>
              </a:rPr>
              <a:t>30 days</a:t>
            </a:r>
            <a:endParaRPr lang="en-US" sz="2600" dirty="0"/>
          </a:p>
        </p:txBody>
      </p:sp>
      <p:sp>
        <p:nvSpPr>
          <p:cNvPr id="7" name="Text 5"/>
          <p:cNvSpPr txBox="1"/>
          <p:nvPr/>
        </p:nvSpPr>
        <p:spPr>
          <a:xfrm>
            <a:off x="1051560" y="2971800"/>
            <a:ext cx="2743200" cy="201168"/>
          </a:xfrm>
          <a:prstGeom prst="rect">
            <a:avLst/>
          </a:prstGeom>
          <a:noFill/>
          <a:ln/>
        </p:spPr>
        <p:txBody>
          <a:bodyPr wrap="square" lIns="0" tIns="0" rIns="0" bIns="0" rtlCol="0" anchor="ctr"/>
          <a:lstStyle/>
          <a:p>
            <a:pPr indent="0" marL="0">
              <a:buNone/>
            </a:pPr>
            <a:r>
              <a:rPr lang="en-US" sz="900" b="1" spc="120" kern="0" dirty="0">
                <a:solidFill>
                  <a:srgbClr val="6B7275"/>
                </a:solidFill>
                <a:latin typeface="Noto Sans" pitchFamily="34" charset="0"/>
                <a:ea typeface="Noto Sans" pitchFamily="34" charset="-122"/>
                <a:cs typeface="Noto Sans" pitchFamily="34" charset="-120"/>
              </a:rPr>
              <a:t>FIRST CHECK</a:t>
            </a:r>
            <a:endParaRPr lang="en-US" sz="900" dirty="0"/>
          </a:p>
        </p:txBody>
      </p:sp>
      <p:sp>
        <p:nvSpPr>
          <p:cNvPr id="8" name="Shape 6"/>
          <p:cNvSpPr/>
          <p:nvPr/>
        </p:nvSpPr>
        <p:spPr>
          <a:xfrm>
            <a:off x="1051560" y="3611880"/>
            <a:ext cx="2743200" cy="0"/>
          </a:xfrm>
          <a:prstGeom prst="line">
            <a:avLst/>
          </a:prstGeom>
          <a:noFill/>
          <a:ln w="9525">
            <a:solidFill>
              <a:srgbClr val="D9CBB2"/>
            </a:solidFill>
            <a:prstDash val="solid"/>
          </a:ln>
        </p:spPr>
      </p:sp>
      <p:sp>
        <p:nvSpPr>
          <p:cNvPr id="9" name="Shape 7"/>
          <p:cNvSpPr/>
          <p:nvPr/>
        </p:nvSpPr>
        <p:spPr>
          <a:xfrm>
            <a:off x="4617720" y="2286000"/>
            <a:ext cx="3291840" cy="1737360"/>
          </a:xfrm>
          <a:prstGeom prst="roundRect">
            <a:avLst>
              <a:gd name="adj" fmla="val 2105"/>
            </a:avLst>
          </a:prstGeom>
          <a:solidFill>
            <a:srgbClr val="F7F3EA"/>
          </a:solidFill>
          <a:ln w="12700">
            <a:solidFill>
              <a:srgbClr val="F7F3EA"/>
            </a:solidFill>
            <a:prstDash val="solid"/>
          </a:ln>
        </p:spPr>
      </p:sp>
      <p:sp>
        <p:nvSpPr>
          <p:cNvPr id="10" name="Text 8"/>
          <p:cNvSpPr txBox="1"/>
          <p:nvPr/>
        </p:nvSpPr>
        <p:spPr>
          <a:xfrm>
            <a:off x="4892040" y="2514600"/>
            <a:ext cx="2743200" cy="411480"/>
          </a:xfrm>
          <a:prstGeom prst="rect">
            <a:avLst/>
          </a:prstGeom>
          <a:noFill/>
          <a:ln/>
        </p:spPr>
        <p:txBody>
          <a:bodyPr wrap="square" lIns="0" tIns="0" rIns="0" bIns="0" rtlCol="0" anchor="ctr"/>
          <a:lstStyle/>
          <a:p>
            <a:pPr indent="0" marL="0">
              <a:buNone/>
            </a:pPr>
            <a:r>
              <a:rPr lang="en-US" sz="2600" b="1" dirty="0">
                <a:solidFill>
                  <a:srgbClr val="7C8863"/>
                </a:solidFill>
                <a:latin typeface="EB Garamond" pitchFamily="34" charset="0"/>
                <a:ea typeface="EB Garamond" pitchFamily="34" charset="-122"/>
                <a:cs typeface="EB Garamond" pitchFamily="34" charset="-120"/>
              </a:rPr>
              <a:t>90 days</a:t>
            </a:r>
            <a:endParaRPr lang="en-US" sz="2600" dirty="0"/>
          </a:p>
        </p:txBody>
      </p:sp>
      <p:sp>
        <p:nvSpPr>
          <p:cNvPr id="11" name="Text 9"/>
          <p:cNvSpPr txBox="1"/>
          <p:nvPr/>
        </p:nvSpPr>
        <p:spPr>
          <a:xfrm>
            <a:off x="4892040" y="2971800"/>
            <a:ext cx="2743200" cy="201168"/>
          </a:xfrm>
          <a:prstGeom prst="rect">
            <a:avLst/>
          </a:prstGeom>
          <a:noFill/>
          <a:ln/>
        </p:spPr>
        <p:txBody>
          <a:bodyPr wrap="square" lIns="0" tIns="0" rIns="0" bIns="0" rtlCol="0" anchor="ctr"/>
          <a:lstStyle/>
          <a:p>
            <a:pPr indent="0" marL="0">
              <a:buNone/>
            </a:pPr>
            <a:r>
              <a:rPr lang="en-US" sz="900" b="1" spc="120" kern="0" dirty="0">
                <a:solidFill>
                  <a:srgbClr val="6B7275"/>
                </a:solidFill>
                <a:latin typeface="Noto Sans" pitchFamily="34" charset="0"/>
                <a:ea typeface="Noto Sans" pitchFamily="34" charset="-122"/>
                <a:cs typeface="Noto Sans" pitchFamily="34" charset="-120"/>
              </a:rPr>
              <a:t>MIDPOINT</a:t>
            </a:r>
            <a:endParaRPr lang="en-US" sz="900" dirty="0"/>
          </a:p>
        </p:txBody>
      </p:sp>
      <p:sp>
        <p:nvSpPr>
          <p:cNvPr id="12" name="Shape 10"/>
          <p:cNvSpPr/>
          <p:nvPr/>
        </p:nvSpPr>
        <p:spPr>
          <a:xfrm>
            <a:off x="4892040" y="3611880"/>
            <a:ext cx="2743200" cy="0"/>
          </a:xfrm>
          <a:prstGeom prst="line">
            <a:avLst/>
          </a:prstGeom>
          <a:noFill/>
          <a:ln w="9525">
            <a:solidFill>
              <a:srgbClr val="D9CBB2"/>
            </a:solidFill>
            <a:prstDash val="solid"/>
          </a:ln>
        </p:spPr>
      </p:sp>
      <p:sp>
        <p:nvSpPr>
          <p:cNvPr id="13" name="Shape 11"/>
          <p:cNvSpPr/>
          <p:nvPr/>
        </p:nvSpPr>
        <p:spPr>
          <a:xfrm>
            <a:off x="8458200" y="2286000"/>
            <a:ext cx="3291840" cy="1737360"/>
          </a:xfrm>
          <a:prstGeom prst="roundRect">
            <a:avLst>
              <a:gd name="adj" fmla="val 2105"/>
            </a:avLst>
          </a:prstGeom>
          <a:solidFill>
            <a:srgbClr val="F7F3EA"/>
          </a:solidFill>
          <a:ln w="12700">
            <a:solidFill>
              <a:srgbClr val="F7F3EA"/>
            </a:solidFill>
            <a:prstDash val="solid"/>
          </a:ln>
        </p:spPr>
      </p:sp>
      <p:sp>
        <p:nvSpPr>
          <p:cNvPr id="14" name="Text 12"/>
          <p:cNvSpPr txBox="1"/>
          <p:nvPr/>
        </p:nvSpPr>
        <p:spPr>
          <a:xfrm>
            <a:off x="8732520" y="2514600"/>
            <a:ext cx="2743200" cy="411480"/>
          </a:xfrm>
          <a:prstGeom prst="rect">
            <a:avLst/>
          </a:prstGeom>
          <a:noFill/>
          <a:ln/>
        </p:spPr>
        <p:txBody>
          <a:bodyPr wrap="square" lIns="0" tIns="0" rIns="0" bIns="0" rtlCol="0" anchor="ctr"/>
          <a:lstStyle/>
          <a:p>
            <a:pPr indent="0" marL="0">
              <a:buNone/>
            </a:pPr>
            <a:r>
              <a:rPr lang="en-US" sz="2600" b="1" dirty="0">
                <a:solidFill>
                  <a:srgbClr val="C08A3E"/>
                </a:solidFill>
                <a:latin typeface="EB Garamond" pitchFamily="34" charset="0"/>
                <a:ea typeface="EB Garamond" pitchFamily="34" charset="-122"/>
                <a:cs typeface="EB Garamond" pitchFamily="34" charset="-120"/>
              </a:rPr>
              <a:t>6 months</a:t>
            </a:r>
            <a:endParaRPr lang="en-US" sz="2600" dirty="0"/>
          </a:p>
        </p:txBody>
      </p:sp>
      <p:sp>
        <p:nvSpPr>
          <p:cNvPr id="15" name="Text 13"/>
          <p:cNvSpPr txBox="1"/>
          <p:nvPr/>
        </p:nvSpPr>
        <p:spPr>
          <a:xfrm>
            <a:off x="8732520" y="2971800"/>
            <a:ext cx="2743200" cy="201168"/>
          </a:xfrm>
          <a:prstGeom prst="rect">
            <a:avLst/>
          </a:prstGeom>
          <a:noFill/>
          <a:ln/>
        </p:spPr>
        <p:txBody>
          <a:bodyPr wrap="square" lIns="0" tIns="0" rIns="0" bIns="0" rtlCol="0" anchor="ctr"/>
          <a:lstStyle/>
          <a:p>
            <a:pPr indent="0" marL="0">
              <a:buNone/>
            </a:pPr>
            <a:r>
              <a:rPr lang="en-US" sz="900" b="1" spc="120" kern="0" dirty="0">
                <a:solidFill>
                  <a:srgbClr val="6B7275"/>
                </a:solidFill>
                <a:latin typeface="Noto Sans" pitchFamily="34" charset="0"/>
                <a:ea typeface="Noto Sans" pitchFamily="34" charset="-122"/>
                <a:cs typeface="Noto Sans" pitchFamily="34" charset="-120"/>
              </a:rPr>
              <a:t>FULL REVIEW</a:t>
            </a:r>
            <a:endParaRPr lang="en-US" sz="900" dirty="0"/>
          </a:p>
        </p:txBody>
      </p:sp>
      <p:sp>
        <p:nvSpPr>
          <p:cNvPr id="16" name="Shape 14"/>
          <p:cNvSpPr/>
          <p:nvPr/>
        </p:nvSpPr>
        <p:spPr>
          <a:xfrm>
            <a:off x="8732520" y="3611880"/>
            <a:ext cx="2743200" cy="0"/>
          </a:xfrm>
          <a:prstGeom prst="line">
            <a:avLst/>
          </a:prstGeom>
          <a:noFill/>
          <a:ln w="9525">
            <a:solidFill>
              <a:srgbClr val="D9CBB2"/>
            </a:solidFill>
            <a:prstDash val="solid"/>
          </a:ln>
        </p:spPr>
      </p:sp>
      <p:sp>
        <p:nvSpPr>
          <p:cNvPr id="17" name="Text 15"/>
          <p:cNvSpPr txBox="1"/>
          <p:nvPr/>
        </p:nvSpPr>
        <p:spPr>
          <a:xfrm>
            <a:off x="777240" y="4343400"/>
            <a:ext cx="5029200" cy="201168"/>
          </a:xfrm>
          <a:prstGeom prst="rect">
            <a:avLst/>
          </a:prstGeom>
          <a:noFill/>
          <a:ln/>
        </p:spPr>
        <p:txBody>
          <a:bodyPr wrap="square" lIns="0" tIns="0" rIns="0" bIns="0" rtlCol="0" anchor="ctr"/>
          <a:lstStyle/>
          <a:p>
            <a:pPr indent="0" marL="0">
              <a:buNone/>
            </a:pPr>
            <a:r>
              <a:rPr lang="en-US" sz="900" b="1" spc="120" kern="0" dirty="0">
                <a:solidFill>
                  <a:srgbClr val="6B7275"/>
                </a:solidFill>
                <a:latin typeface="Noto Sans" pitchFamily="34" charset="0"/>
                <a:ea typeface="Noto Sans" pitchFamily="34" charset="-122"/>
                <a:cs typeface="Noto Sans" pitchFamily="34" charset="-120"/>
              </a:rPr>
              <a:t>WHO I AM SHARING THIS PLAN WITH</a:t>
            </a:r>
            <a:endParaRPr lang="en-US" sz="900" dirty="0"/>
          </a:p>
        </p:txBody>
      </p:sp>
      <p:sp>
        <p:nvSpPr>
          <p:cNvPr id="18" name="Shape 16"/>
          <p:cNvSpPr/>
          <p:nvPr/>
        </p:nvSpPr>
        <p:spPr>
          <a:xfrm>
            <a:off x="777240" y="4910328"/>
            <a:ext cx="5029200" cy="0"/>
          </a:xfrm>
          <a:prstGeom prst="line">
            <a:avLst/>
          </a:prstGeom>
          <a:noFill/>
          <a:ln w="9525">
            <a:solidFill>
              <a:srgbClr val="E3DCCF"/>
            </a:solidFill>
            <a:prstDash val="solid"/>
          </a:ln>
        </p:spPr>
      </p:sp>
      <p:sp>
        <p:nvSpPr>
          <p:cNvPr id="19" name="Shape 17"/>
          <p:cNvSpPr/>
          <p:nvPr/>
        </p:nvSpPr>
        <p:spPr>
          <a:xfrm>
            <a:off x="777240" y="5239512"/>
            <a:ext cx="5029200" cy="0"/>
          </a:xfrm>
          <a:prstGeom prst="line">
            <a:avLst/>
          </a:prstGeom>
          <a:noFill/>
          <a:ln w="9525">
            <a:solidFill>
              <a:srgbClr val="E3DCCF"/>
            </a:solidFill>
            <a:prstDash val="solid"/>
          </a:ln>
        </p:spPr>
      </p:sp>
      <p:sp>
        <p:nvSpPr>
          <p:cNvPr id="20" name="Text 18"/>
          <p:cNvSpPr txBox="1"/>
          <p:nvPr/>
        </p:nvSpPr>
        <p:spPr>
          <a:xfrm>
            <a:off x="6382512" y="4343400"/>
            <a:ext cx="5029200" cy="201168"/>
          </a:xfrm>
          <a:prstGeom prst="rect">
            <a:avLst/>
          </a:prstGeom>
          <a:noFill/>
          <a:ln/>
        </p:spPr>
        <p:txBody>
          <a:bodyPr wrap="square" lIns="0" tIns="0" rIns="0" bIns="0" rtlCol="0" anchor="ctr"/>
          <a:lstStyle/>
          <a:p>
            <a:pPr indent="0" marL="0">
              <a:buNone/>
            </a:pPr>
            <a:r>
              <a:rPr lang="en-US" sz="900" b="1" spc="120" kern="0" dirty="0">
                <a:solidFill>
                  <a:srgbClr val="6B7275"/>
                </a:solidFill>
                <a:latin typeface="Noto Sans" pitchFamily="34" charset="0"/>
                <a:ea typeface="Noto Sans" pitchFamily="34" charset="-122"/>
                <a:cs typeface="Noto Sans" pitchFamily="34" charset="-120"/>
              </a:rPr>
              <a:t>WHAT I WILL ASK THEM FOR</a:t>
            </a:r>
            <a:endParaRPr lang="en-US" sz="900" dirty="0"/>
          </a:p>
        </p:txBody>
      </p:sp>
      <p:sp>
        <p:nvSpPr>
          <p:cNvPr id="21" name="Shape 19"/>
          <p:cNvSpPr/>
          <p:nvPr/>
        </p:nvSpPr>
        <p:spPr>
          <a:xfrm>
            <a:off x="6382512" y="4910328"/>
            <a:ext cx="5029200" cy="0"/>
          </a:xfrm>
          <a:prstGeom prst="line">
            <a:avLst/>
          </a:prstGeom>
          <a:noFill/>
          <a:ln w="9525">
            <a:solidFill>
              <a:srgbClr val="E3DCCF"/>
            </a:solidFill>
            <a:prstDash val="solid"/>
          </a:ln>
        </p:spPr>
      </p:sp>
      <p:sp>
        <p:nvSpPr>
          <p:cNvPr id="22" name="Shape 20"/>
          <p:cNvSpPr/>
          <p:nvPr/>
        </p:nvSpPr>
        <p:spPr>
          <a:xfrm>
            <a:off x="6382512" y="5239512"/>
            <a:ext cx="5029200" cy="0"/>
          </a:xfrm>
          <a:prstGeom prst="line">
            <a:avLst/>
          </a:prstGeom>
          <a:noFill/>
          <a:ln w="9525">
            <a:solidFill>
              <a:srgbClr val="E3DCCF"/>
            </a:solidFill>
            <a:prstDash val="solid"/>
          </a:ln>
        </p:spPr>
      </p:sp>
      <p:sp>
        <p:nvSpPr>
          <p:cNvPr id="23" name="Text 21"/>
          <p:cNvSpPr txBox="1"/>
          <p:nvPr/>
        </p:nvSpPr>
        <p:spPr>
          <a:xfrm>
            <a:off x="777240" y="6355080"/>
            <a:ext cx="5486400" cy="228600"/>
          </a:xfrm>
          <a:prstGeom prst="rect">
            <a:avLst/>
          </a:prstGeom>
          <a:noFill/>
          <a:ln/>
        </p:spPr>
        <p:txBody>
          <a:bodyPr wrap="square" lIns="0" tIns="0" rIns="0" bIns="0" rtlCol="0" anchor="ctr"/>
          <a:lstStyle/>
          <a:p>
            <a:pPr indent="0" marL="0">
              <a:buNone/>
            </a:pPr>
            <a:r>
              <a:rPr lang="en-US" sz="900" dirty="0">
                <a:solidFill>
                  <a:srgbClr val="D9CBB2"/>
                </a:solidFill>
                <a:latin typeface="Noto Sans" pitchFamily="34" charset="0"/>
                <a:ea typeface="Noto Sans" pitchFamily="34" charset="-122"/>
                <a:cs typeface="Noto Sans" pitchFamily="34" charset="-120"/>
              </a:rPr>
              <a:t>CARE 360 Leadership Action Plan</a:t>
            </a:r>
            <a:endParaRPr lang="en-US" sz="900" dirty="0"/>
          </a:p>
        </p:txBody>
      </p:sp>
      <p:sp>
        <p:nvSpPr>
          <p:cNvPr id="24" name="Text 22"/>
          <p:cNvSpPr txBox="1"/>
          <p:nvPr/>
        </p:nvSpPr>
        <p:spPr>
          <a:xfrm>
            <a:off x="7754112" y="6355080"/>
            <a:ext cx="3657600" cy="228600"/>
          </a:xfrm>
          <a:prstGeom prst="rect">
            <a:avLst/>
          </a:prstGeom>
          <a:noFill/>
          <a:ln/>
        </p:spPr>
        <p:txBody>
          <a:bodyPr wrap="square" lIns="0" tIns="0" rIns="0" bIns="0" rtlCol="0" anchor="ctr"/>
          <a:lstStyle/>
          <a:p>
            <a:pPr algn="r" indent="0" marL="0">
              <a:buNone/>
            </a:pPr>
            <a:r>
              <a:rPr lang="en-US" sz="900" dirty="0">
                <a:solidFill>
                  <a:srgbClr val="D9CBB2"/>
                </a:solidFill>
                <a:latin typeface="Noto Sans" pitchFamily="34" charset="0"/>
                <a:ea typeface="Noto Sans" pitchFamily="34" charset="-122"/>
                <a:cs typeface="Noto Sans" pitchFamily="34" charset="-120"/>
              </a:rPr>
              <a:t>Accountability</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2162556" y="2377440"/>
            <a:ext cx="7863840" cy="1280160"/>
          </a:xfrm>
          <a:prstGeom prst="rect">
            <a:avLst/>
          </a:prstGeom>
          <a:noFill/>
          <a:ln/>
        </p:spPr>
        <p:txBody>
          <a:bodyPr wrap="square" lIns="0" tIns="0" rIns="0" bIns="0" rtlCol="0" anchor="ctr"/>
          <a:lstStyle/>
          <a:p>
            <a:pPr algn="ctr" indent="0" marL="0">
              <a:lnSpc>
                <a:spcPts val="4400"/>
              </a:lnSpc>
              <a:buNone/>
            </a:pPr>
            <a:r>
              <a:rPr lang="en-US" sz="3000" dirty="0">
                <a:solidFill>
                  <a:srgbClr val="30383B"/>
                </a:solidFill>
                <a:latin typeface="EB Garamond" pitchFamily="34" charset="0"/>
                <a:ea typeface="EB Garamond" pitchFamily="34" charset="-122"/>
                <a:cs typeface="EB Garamond" pitchFamily="34" charset="-120"/>
              </a:rPr>
              <a:t>Feedback is information. What you do with it is leadership.</a:t>
            </a:r>
            <a:endParaRPr lang="en-US" sz="3000" dirty="0"/>
          </a:p>
        </p:txBody>
      </p:sp>
      <p:sp>
        <p:nvSpPr>
          <p:cNvPr id="3" name="Shape 1"/>
          <p:cNvSpPr/>
          <p:nvPr/>
        </p:nvSpPr>
        <p:spPr>
          <a:xfrm>
            <a:off x="5545836" y="3977640"/>
            <a:ext cx="1097280" cy="0"/>
          </a:xfrm>
          <a:prstGeom prst="line">
            <a:avLst/>
          </a:prstGeom>
          <a:noFill/>
          <a:ln w="15875">
            <a:solidFill>
              <a:srgbClr val="A9633D"/>
            </a:solidFill>
            <a:prstDash val="solid"/>
          </a:ln>
        </p:spPr>
      </p:sp>
      <p:pic>
        <p:nvPicPr>
          <p:cNvPr id="4" name="Image 0" descr="lockup_ink.png">    </p:cNvPr>
          <p:cNvPicPr>
            <a:picLocks noChangeAspect="1"/>
          </p:cNvPicPr>
          <p:nvPr/>
        </p:nvPicPr>
        <p:blipFill>
          <a:blip r:embed="rId1"/>
          <a:stretch>
            <a:fillRect/>
          </a:stretch>
        </p:blipFill>
        <p:spPr>
          <a:xfrm>
            <a:off x="5180076" y="4434840"/>
            <a:ext cx="1828800" cy="594360"/>
          </a:xfrm>
          <a:prstGeom prst="rect">
            <a:avLst/>
          </a:prstGeom>
        </p:spPr>
      </p:pic>
      <p:sp>
        <p:nvSpPr>
          <p:cNvPr id="5" name="Text 2"/>
          <p:cNvSpPr txBox="1"/>
          <p:nvPr/>
        </p:nvSpPr>
        <p:spPr>
          <a:xfrm>
            <a:off x="0" y="6035040"/>
            <a:ext cx="12188952" cy="228600"/>
          </a:xfrm>
          <a:prstGeom prst="rect">
            <a:avLst/>
          </a:prstGeom>
          <a:noFill/>
          <a:ln/>
        </p:spPr>
        <p:txBody>
          <a:bodyPr wrap="square" lIns="0" tIns="0" rIns="0" bIns="0" rtlCol="0" anchor="ctr"/>
          <a:lstStyle/>
          <a:p>
            <a:pPr algn="ctr" indent="0" marL="0">
              <a:buNone/>
            </a:pPr>
            <a:r>
              <a:rPr lang="en-US" sz="900" spc="150" kern="0" dirty="0">
                <a:solidFill>
                  <a:srgbClr val="6B7275"/>
                </a:solidFill>
                <a:latin typeface="Noto Sans" pitchFamily="34" charset="0"/>
                <a:ea typeface="Noto Sans" pitchFamily="34" charset="-122"/>
                <a:cs typeface="Noto Sans" pitchFamily="34" charset="-120"/>
              </a:rPr>
              <a:t>Thoughtful  ·  Innovative  ·  Human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 360 Leadership Action Plan</dc:title>
  <dc:subject>PptxGenJS Presentation</dc:subject>
  <dc:creator>In Good Company Collective</dc:creator>
  <cp:lastModifiedBy>In Good Company Collective</cp:lastModifiedBy>
  <cp:revision>1</cp:revision>
  <dcterms:created xsi:type="dcterms:W3CDTF">2026-08-30T23:56:12Z</dcterms:created>
  <dcterms:modified xsi:type="dcterms:W3CDTF">2026-08-30T23:56:12Z</dcterms:modified>
</cp:coreProperties>
</file>